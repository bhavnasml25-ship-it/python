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3" r:id="rId6"/>
    <p:sldId id="265" r:id="rId7"/>
    <p:sldId id="261" r:id="rId8"/>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2" d="100"/>
          <a:sy n="52" d="100"/>
        </p:scale>
        <p:origin x="1700" y="2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800" b="1" i="0">
                <a:solidFill>
                  <a:schemeClr val="hlink"/>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hlink"/>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hlink"/>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hlink"/>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46050" y="6390640"/>
            <a:ext cx="8832850" cy="309880"/>
          </a:xfrm>
          <a:custGeom>
            <a:avLst/>
            <a:gdLst/>
            <a:ahLst/>
            <a:cxnLst/>
            <a:rect l="l" t="t" r="r" b="b"/>
            <a:pathLst>
              <a:path w="8832850" h="309879">
                <a:moveTo>
                  <a:pt x="8832849" y="309880"/>
                </a:moveTo>
                <a:lnTo>
                  <a:pt x="0" y="309880"/>
                </a:lnTo>
                <a:lnTo>
                  <a:pt x="0" y="0"/>
                </a:lnTo>
                <a:lnTo>
                  <a:pt x="8832849" y="0"/>
                </a:lnTo>
                <a:lnTo>
                  <a:pt x="8832849" y="309880"/>
                </a:lnTo>
                <a:close/>
              </a:path>
            </a:pathLst>
          </a:custGeom>
          <a:solidFill>
            <a:srgbClr val="8BABAD"/>
          </a:solidFill>
        </p:spPr>
        <p:txBody>
          <a:bodyPr wrap="square" lIns="0" tIns="0" rIns="0" bIns="0" rtlCol="0"/>
          <a:lstStyle/>
          <a:p>
            <a:endParaRPr/>
          </a:p>
        </p:txBody>
      </p:sp>
      <p:sp>
        <p:nvSpPr>
          <p:cNvPr id="17" name="bg object 17"/>
          <p:cNvSpPr/>
          <p:nvPr/>
        </p:nvSpPr>
        <p:spPr>
          <a:xfrm>
            <a:off x="152400" y="158750"/>
            <a:ext cx="8832850" cy="6546850"/>
          </a:xfrm>
          <a:custGeom>
            <a:avLst/>
            <a:gdLst/>
            <a:ahLst/>
            <a:cxnLst/>
            <a:rect l="l" t="t" r="r" b="b"/>
            <a:pathLst>
              <a:path w="8832850" h="6546850">
                <a:moveTo>
                  <a:pt x="4415789" y="6546849"/>
                </a:moveTo>
                <a:lnTo>
                  <a:pt x="0" y="6546849"/>
                </a:lnTo>
                <a:lnTo>
                  <a:pt x="0" y="0"/>
                </a:lnTo>
                <a:lnTo>
                  <a:pt x="8832849" y="0"/>
                </a:lnTo>
                <a:lnTo>
                  <a:pt x="8832849" y="6546849"/>
                </a:lnTo>
                <a:lnTo>
                  <a:pt x="4415789" y="6546849"/>
                </a:lnTo>
                <a:close/>
              </a:path>
            </a:pathLst>
          </a:custGeom>
          <a:ln w="9524">
            <a:solidFill>
              <a:srgbClr val="799798"/>
            </a:solidFill>
          </a:ln>
        </p:spPr>
        <p:txBody>
          <a:bodyPr wrap="square" lIns="0" tIns="0" rIns="0" bIns="0" rtlCol="0"/>
          <a:lstStyle/>
          <a:p>
            <a:endParaRPr/>
          </a:p>
        </p:txBody>
      </p:sp>
      <p:sp>
        <p:nvSpPr>
          <p:cNvPr id="2" name="Holder 2"/>
          <p:cNvSpPr>
            <a:spLocks noGrp="1"/>
          </p:cNvSpPr>
          <p:nvPr>
            <p:ph type="title"/>
          </p:nvPr>
        </p:nvSpPr>
        <p:spPr>
          <a:xfrm>
            <a:off x="3048426" y="2896496"/>
            <a:ext cx="3138804" cy="756920"/>
          </a:xfrm>
          <a:prstGeom prst="rect">
            <a:avLst/>
          </a:prstGeom>
        </p:spPr>
        <p:txBody>
          <a:bodyPr wrap="square" lIns="0" tIns="0" rIns="0" bIns="0">
            <a:spAutoFit/>
          </a:bodyPr>
          <a:lstStyle>
            <a:lvl1pPr>
              <a:defRPr sz="4800" b="1" i="0">
                <a:solidFill>
                  <a:schemeClr val="hlink"/>
                </a:solidFill>
                <a:latin typeface="Arial"/>
                <a:cs typeface="Arial"/>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8/16/2026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286000" y="285368"/>
            <a:ext cx="4112035" cy="1982594"/>
          </a:xfrm>
          <a:prstGeom prst="rect">
            <a:avLst/>
          </a:prstGeom>
        </p:spPr>
        <p:txBody>
          <a:bodyPr vert="horz" wrap="square" lIns="0" tIns="12700" rIns="0" bIns="0" rtlCol="0">
            <a:spAutoFit/>
          </a:bodyPr>
          <a:lstStyle/>
          <a:p>
            <a:pPr marL="12700" marR="5080" algn="ctr">
              <a:lnSpc>
                <a:spcPct val="100000"/>
              </a:lnSpc>
              <a:spcBef>
                <a:spcPts val="100"/>
              </a:spcBef>
            </a:pPr>
            <a:r>
              <a:rPr sz="3200" dirty="0">
                <a:solidFill>
                  <a:srgbClr val="000000"/>
                </a:solidFill>
                <a:latin typeface="Times New Roman"/>
                <a:cs typeface="Times New Roman"/>
              </a:rPr>
              <a:t>Experiential</a:t>
            </a:r>
            <a:r>
              <a:rPr sz="3200" spc="-60" dirty="0">
                <a:solidFill>
                  <a:srgbClr val="000000"/>
                </a:solidFill>
                <a:latin typeface="Times New Roman"/>
                <a:cs typeface="Times New Roman"/>
              </a:rPr>
              <a:t> </a:t>
            </a:r>
            <a:r>
              <a:rPr sz="3200" spc="-10" dirty="0">
                <a:solidFill>
                  <a:srgbClr val="000000"/>
                </a:solidFill>
                <a:latin typeface="Times New Roman"/>
                <a:cs typeface="Times New Roman"/>
              </a:rPr>
              <a:t>Learning </a:t>
            </a:r>
            <a:r>
              <a:rPr sz="3200" dirty="0">
                <a:solidFill>
                  <a:srgbClr val="000000"/>
                </a:solidFill>
                <a:latin typeface="Times New Roman"/>
                <a:cs typeface="Times New Roman"/>
              </a:rPr>
              <a:t>Project</a:t>
            </a:r>
            <a:r>
              <a:rPr sz="3200" spc="5" dirty="0">
                <a:solidFill>
                  <a:srgbClr val="000000"/>
                </a:solidFill>
                <a:latin typeface="Times New Roman"/>
                <a:cs typeface="Times New Roman"/>
              </a:rPr>
              <a:t> </a:t>
            </a:r>
            <a:r>
              <a:rPr sz="3200" spc="-30" dirty="0">
                <a:solidFill>
                  <a:srgbClr val="000000"/>
                </a:solidFill>
                <a:latin typeface="Times New Roman"/>
                <a:cs typeface="Times New Roman"/>
              </a:rPr>
              <a:t>Assessment-</a:t>
            </a:r>
            <a:r>
              <a:rPr sz="3200" spc="-50" dirty="0">
                <a:solidFill>
                  <a:srgbClr val="000000"/>
                </a:solidFill>
                <a:latin typeface="Times New Roman"/>
                <a:cs typeface="Times New Roman"/>
              </a:rPr>
              <a:t>I </a:t>
            </a:r>
            <a:r>
              <a:rPr sz="3200" spc="-25" dirty="0">
                <a:solidFill>
                  <a:srgbClr val="000000"/>
                </a:solidFill>
                <a:latin typeface="Times New Roman"/>
                <a:cs typeface="Times New Roman"/>
              </a:rPr>
              <a:t>on</a:t>
            </a:r>
            <a:endParaRPr sz="3200" dirty="0">
              <a:latin typeface="Times New Roman"/>
              <a:cs typeface="Times New Roman"/>
            </a:endParaRPr>
          </a:p>
          <a:p>
            <a:pPr marL="2540" algn="ctr">
              <a:lnSpc>
                <a:spcPct val="100000"/>
              </a:lnSpc>
            </a:pPr>
            <a:r>
              <a:rPr sz="3200" dirty="0">
                <a:latin typeface="Times New Roman"/>
                <a:cs typeface="Times New Roman"/>
              </a:rPr>
              <a:t>“</a:t>
            </a:r>
            <a:r>
              <a:rPr sz="3200" spc="-55" dirty="0">
                <a:latin typeface="Times New Roman"/>
                <a:cs typeface="Times New Roman"/>
              </a:rPr>
              <a:t> </a:t>
            </a:r>
            <a:r>
              <a:rPr lang="en-US" sz="3200" dirty="0">
                <a:solidFill>
                  <a:srgbClr val="000000"/>
                </a:solidFill>
                <a:latin typeface="Times New Roman"/>
                <a:cs typeface="Times New Roman"/>
              </a:rPr>
              <a:t>Python Snake Game</a:t>
            </a:r>
            <a:r>
              <a:rPr sz="3200" spc="-10" dirty="0">
                <a:latin typeface="Times New Roman"/>
                <a:cs typeface="Times New Roman"/>
              </a:rPr>
              <a:t>”</a:t>
            </a:r>
            <a:endParaRPr sz="3200" dirty="0">
              <a:latin typeface="Times New Roman"/>
              <a:cs typeface="Times New Roman"/>
            </a:endParaRPr>
          </a:p>
        </p:txBody>
      </p:sp>
      <p:sp>
        <p:nvSpPr>
          <p:cNvPr id="3" name="object 3"/>
          <p:cNvSpPr txBox="1"/>
          <p:nvPr/>
        </p:nvSpPr>
        <p:spPr>
          <a:xfrm>
            <a:off x="1162397" y="2238120"/>
            <a:ext cx="6601459" cy="820419"/>
          </a:xfrm>
          <a:prstGeom prst="rect">
            <a:avLst/>
          </a:prstGeom>
        </p:spPr>
        <p:txBody>
          <a:bodyPr vert="horz" wrap="square" lIns="0" tIns="12700" rIns="0" bIns="0" rtlCol="0">
            <a:spAutoFit/>
          </a:bodyPr>
          <a:lstStyle/>
          <a:p>
            <a:pPr algn="ctr">
              <a:lnSpc>
                <a:spcPct val="100000"/>
              </a:lnSpc>
              <a:spcBef>
                <a:spcPts val="100"/>
              </a:spcBef>
            </a:pPr>
            <a:r>
              <a:rPr sz="2800" b="1" dirty="0">
                <a:solidFill>
                  <a:srgbClr val="0000FF"/>
                </a:solidFill>
                <a:latin typeface="Times New Roman"/>
                <a:cs typeface="Times New Roman"/>
              </a:rPr>
              <a:t>under</a:t>
            </a:r>
            <a:r>
              <a:rPr sz="2800" b="1" spc="-75" dirty="0">
                <a:solidFill>
                  <a:srgbClr val="0000FF"/>
                </a:solidFill>
                <a:latin typeface="Times New Roman"/>
                <a:cs typeface="Times New Roman"/>
              </a:rPr>
              <a:t> </a:t>
            </a:r>
            <a:r>
              <a:rPr sz="2800" b="1" dirty="0">
                <a:solidFill>
                  <a:srgbClr val="0000FF"/>
                </a:solidFill>
                <a:latin typeface="Times New Roman"/>
                <a:cs typeface="Times New Roman"/>
              </a:rPr>
              <a:t>the</a:t>
            </a:r>
            <a:r>
              <a:rPr sz="2800" b="1" spc="-75" dirty="0">
                <a:solidFill>
                  <a:srgbClr val="0000FF"/>
                </a:solidFill>
                <a:latin typeface="Times New Roman"/>
                <a:cs typeface="Times New Roman"/>
              </a:rPr>
              <a:t> </a:t>
            </a:r>
            <a:r>
              <a:rPr sz="2800" b="1" spc="-10" dirty="0">
                <a:solidFill>
                  <a:srgbClr val="0000FF"/>
                </a:solidFill>
                <a:latin typeface="Times New Roman"/>
                <a:cs typeface="Times New Roman"/>
              </a:rPr>
              <a:t>course</a:t>
            </a:r>
            <a:endParaRPr sz="2800">
              <a:latin typeface="Times New Roman"/>
              <a:cs typeface="Times New Roman"/>
            </a:endParaRPr>
          </a:p>
          <a:p>
            <a:pPr algn="ctr">
              <a:lnSpc>
                <a:spcPct val="100000"/>
              </a:lnSpc>
              <a:spcBef>
                <a:spcPts val="15"/>
              </a:spcBef>
            </a:pPr>
            <a:r>
              <a:rPr sz="2400" b="1" dirty="0">
                <a:solidFill>
                  <a:srgbClr val="0000FF"/>
                </a:solidFill>
                <a:latin typeface="Times New Roman"/>
                <a:cs typeface="Times New Roman"/>
              </a:rPr>
              <a:t>Python</a:t>
            </a:r>
            <a:r>
              <a:rPr sz="2400" b="1" spc="-75" dirty="0">
                <a:solidFill>
                  <a:srgbClr val="0000FF"/>
                </a:solidFill>
                <a:latin typeface="Times New Roman"/>
                <a:cs typeface="Times New Roman"/>
              </a:rPr>
              <a:t> </a:t>
            </a:r>
            <a:r>
              <a:rPr sz="2400" b="1" dirty="0">
                <a:solidFill>
                  <a:srgbClr val="0000FF"/>
                </a:solidFill>
                <a:latin typeface="Times New Roman"/>
                <a:cs typeface="Times New Roman"/>
              </a:rPr>
              <a:t>Programming</a:t>
            </a:r>
            <a:r>
              <a:rPr sz="2400" b="1" spc="-70" dirty="0">
                <a:solidFill>
                  <a:srgbClr val="0000FF"/>
                </a:solidFill>
                <a:latin typeface="Times New Roman"/>
                <a:cs typeface="Times New Roman"/>
              </a:rPr>
              <a:t> </a:t>
            </a:r>
            <a:r>
              <a:rPr sz="2400" b="1" dirty="0">
                <a:solidFill>
                  <a:srgbClr val="0000FF"/>
                </a:solidFill>
                <a:latin typeface="Times New Roman"/>
                <a:cs typeface="Times New Roman"/>
              </a:rPr>
              <a:t>Language</a:t>
            </a:r>
            <a:r>
              <a:rPr sz="2400" b="1" spc="-75" dirty="0">
                <a:solidFill>
                  <a:srgbClr val="0000FF"/>
                </a:solidFill>
                <a:latin typeface="Times New Roman"/>
                <a:cs typeface="Times New Roman"/>
              </a:rPr>
              <a:t> </a:t>
            </a:r>
            <a:r>
              <a:rPr sz="2400" b="1" spc="-20" dirty="0">
                <a:solidFill>
                  <a:srgbClr val="0000FF"/>
                </a:solidFill>
                <a:latin typeface="Times New Roman"/>
                <a:cs typeface="Times New Roman"/>
              </a:rPr>
              <a:t>(N-</a:t>
            </a:r>
            <a:r>
              <a:rPr sz="2400" b="1" spc="-10" dirty="0">
                <a:solidFill>
                  <a:srgbClr val="0000FF"/>
                </a:solidFill>
                <a:latin typeface="Times New Roman"/>
                <a:cs typeface="Times New Roman"/>
              </a:rPr>
              <a:t>PCCCM304P)</a:t>
            </a:r>
            <a:endParaRPr sz="2400">
              <a:latin typeface="Times New Roman"/>
              <a:cs typeface="Times New Roman"/>
            </a:endParaRPr>
          </a:p>
        </p:txBody>
      </p:sp>
      <p:sp>
        <p:nvSpPr>
          <p:cNvPr id="4" name="object 4"/>
          <p:cNvSpPr txBox="1"/>
          <p:nvPr/>
        </p:nvSpPr>
        <p:spPr>
          <a:xfrm>
            <a:off x="758825" y="3310932"/>
            <a:ext cx="2060575" cy="641201"/>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a:cs typeface="Times New Roman"/>
              </a:rPr>
              <a:t>Presented</a:t>
            </a:r>
            <a:r>
              <a:rPr sz="2000" b="1" spc="-45" dirty="0">
                <a:latin typeface="Times New Roman"/>
                <a:cs typeface="Times New Roman"/>
              </a:rPr>
              <a:t> </a:t>
            </a:r>
            <a:r>
              <a:rPr sz="2000" b="1" spc="-25" dirty="0">
                <a:latin typeface="Times New Roman"/>
                <a:cs typeface="Times New Roman"/>
              </a:rPr>
              <a:t>By</a:t>
            </a:r>
            <a:endParaRPr lang="en-US" sz="2000" b="1" spc="-25" dirty="0">
              <a:latin typeface="Times New Roman"/>
              <a:cs typeface="Times New Roman"/>
            </a:endParaRPr>
          </a:p>
          <a:p>
            <a:pPr marL="12700">
              <a:lnSpc>
                <a:spcPct val="100000"/>
              </a:lnSpc>
              <a:spcBef>
                <a:spcPts val="100"/>
              </a:spcBef>
            </a:pPr>
            <a:r>
              <a:rPr lang="en-US" sz="2000" b="1" spc="-25" dirty="0">
                <a:latin typeface="Times New Roman"/>
                <a:cs typeface="Times New Roman"/>
              </a:rPr>
              <a:t>-Bhavna Sarile</a:t>
            </a:r>
            <a:endParaRPr sz="2000" dirty="0">
              <a:latin typeface="Times New Roman"/>
              <a:cs typeface="Times New Roman"/>
            </a:endParaRPr>
          </a:p>
        </p:txBody>
      </p:sp>
      <p:sp>
        <p:nvSpPr>
          <p:cNvPr id="5" name="object 5"/>
          <p:cNvSpPr txBox="1"/>
          <p:nvPr/>
        </p:nvSpPr>
        <p:spPr>
          <a:xfrm>
            <a:off x="5897422" y="3292240"/>
            <a:ext cx="2408378" cy="1243930"/>
          </a:xfrm>
          <a:prstGeom prst="rect">
            <a:avLst/>
          </a:prstGeom>
        </p:spPr>
        <p:txBody>
          <a:bodyPr vert="horz" wrap="square" lIns="0" tIns="12700" rIns="0" bIns="0" rtlCol="0">
            <a:spAutoFit/>
          </a:bodyPr>
          <a:lstStyle/>
          <a:p>
            <a:pPr marL="1007110" marR="5080" indent="-995044">
              <a:lnSpc>
                <a:spcPct val="100000"/>
              </a:lnSpc>
              <a:spcBef>
                <a:spcPts val="100"/>
              </a:spcBef>
            </a:pPr>
            <a:r>
              <a:rPr sz="2000" b="1" dirty="0">
                <a:latin typeface="Times New Roman"/>
                <a:cs typeface="Times New Roman"/>
              </a:rPr>
              <a:t>Under</a:t>
            </a:r>
            <a:r>
              <a:rPr sz="2000" b="1" spc="-50" dirty="0">
                <a:latin typeface="Times New Roman"/>
                <a:cs typeface="Times New Roman"/>
              </a:rPr>
              <a:t> </a:t>
            </a:r>
            <a:r>
              <a:rPr sz="2000" b="1" dirty="0">
                <a:latin typeface="Times New Roman"/>
                <a:cs typeface="Times New Roman"/>
              </a:rPr>
              <a:t>the</a:t>
            </a:r>
            <a:r>
              <a:rPr sz="2000" b="1" spc="-45" dirty="0">
                <a:latin typeface="Times New Roman"/>
                <a:cs typeface="Times New Roman"/>
              </a:rPr>
              <a:t> </a:t>
            </a:r>
            <a:r>
              <a:rPr sz="2000" b="1" spc="-10" dirty="0">
                <a:latin typeface="Times New Roman"/>
                <a:cs typeface="Times New Roman"/>
              </a:rPr>
              <a:t>Guidance </a:t>
            </a:r>
            <a:r>
              <a:rPr sz="2000" b="1" spc="-25" dirty="0">
                <a:latin typeface="Times New Roman"/>
                <a:cs typeface="Times New Roman"/>
              </a:rPr>
              <a:t>of</a:t>
            </a:r>
            <a:endParaRPr sz="2000" dirty="0">
              <a:latin typeface="Times New Roman"/>
              <a:cs typeface="Times New Roman"/>
            </a:endParaRPr>
          </a:p>
          <a:p>
            <a:pPr marL="23495">
              <a:lnSpc>
                <a:spcPct val="100000"/>
              </a:lnSpc>
            </a:pPr>
            <a:r>
              <a:rPr sz="2000" b="1" dirty="0">
                <a:latin typeface="Times New Roman"/>
                <a:cs typeface="Times New Roman"/>
              </a:rPr>
              <a:t>Mrs.</a:t>
            </a:r>
            <a:r>
              <a:rPr sz="2000" b="1" spc="-15" dirty="0">
                <a:latin typeface="Times New Roman"/>
                <a:cs typeface="Times New Roman"/>
              </a:rPr>
              <a:t> </a:t>
            </a:r>
            <a:r>
              <a:rPr lang="en-US" sz="2000" b="1" dirty="0">
                <a:latin typeface="Times New Roman"/>
                <a:cs typeface="Times New Roman"/>
              </a:rPr>
              <a:t>Suchita </a:t>
            </a:r>
            <a:r>
              <a:rPr lang="en-US" sz="2000" b="1" dirty="0" err="1">
                <a:latin typeface="Times New Roman"/>
                <a:cs typeface="Times New Roman"/>
              </a:rPr>
              <a:t>Meshkar</a:t>
            </a:r>
            <a:endParaRPr sz="2000" dirty="0">
              <a:latin typeface="Times New Roman"/>
              <a:cs typeface="Times New Roman"/>
            </a:endParaRPr>
          </a:p>
        </p:txBody>
      </p:sp>
      <p:pic>
        <p:nvPicPr>
          <p:cNvPr id="6" name="object 6"/>
          <p:cNvPicPr/>
          <p:nvPr/>
        </p:nvPicPr>
        <p:blipFill>
          <a:blip r:embed="rId2" cstate="print"/>
          <a:stretch>
            <a:fillRect/>
          </a:stretch>
        </p:blipFill>
        <p:spPr>
          <a:xfrm>
            <a:off x="3838575" y="3286617"/>
            <a:ext cx="1455566" cy="1024411"/>
          </a:xfrm>
          <a:prstGeom prst="rect">
            <a:avLst/>
          </a:prstGeom>
        </p:spPr>
      </p:pic>
      <p:sp>
        <p:nvSpPr>
          <p:cNvPr id="7" name="object 7"/>
          <p:cNvSpPr txBox="1"/>
          <p:nvPr/>
        </p:nvSpPr>
        <p:spPr>
          <a:xfrm>
            <a:off x="1005675" y="4662423"/>
            <a:ext cx="7997825" cy="2033905"/>
          </a:xfrm>
          <a:prstGeom prst="rect">
            <a:avLst/>
          </a:prstGeom>
        </p:spPr>
        <p:txBody>
          <a:bodyPr vert="horz" wrap="square" lIns="0" tIns="12700" rIns="0" bIns="0" rtlCol="0">
            <a:spAutoFit/>
          </a:bodyPr>
          <a:lstStyle/>
          <a:p>
            <a:pPr marL="2336165">
              <a:lnSpc>
                <a:spcPct val="100000"/>
              </a:lnSpc>
              <a:spcBef>
                <a:spcPts val="100"/>
              </a:spcBef>
            </a:pPr>
            <a:r>
              <a:rPr sz="2200" b="1" spc="-10" dirty="0">
                <a:latin typeface="Times New Roman"/>
                <a:cs typeface="Times New Roman"/>
              </a:rPr>
              <a:t>Session:2026-</a:t>
            </a:r>
            <a:r>
              <a:rPr sz="2200" b="1" dirty="0">
                <a:latin typeface="Times New Roman"/>
                <a:cs typeface="Times New Roman"/>
              </a:rPr>
              <a:t>27</a:t>
            </a:r>
            <a:r>
              <a:rPr sz="2200" b="1" spc="-55" dirty="0">
                <a:latin typeface="Times New Roman"/>
                <a:cs typeface="Times New Roman"/>
              </a:rPr>
              <a:t> </a:t>
            </a:r>
            <a:r>
              <a:rPr sz="2200" b="1" dirty="0">
                <a:latin typeface="Times New Roman"/>
                <a:cs typeface="Times New Roman"/>
              </a:rPr>
              <a:t>(ODD</a:t>
            </a:r>
            <a:r>
              <a:rPr sz="2200" b="1" spc="-50" dirty="0">
                <a:latin typeface="Times New Roman"/>
                <a:cs typeface="Times New Roman"/>
              </a:rPr>
              <a:t> )</a:t>
            </a:r>
            <a:endParaRPr sz="2200" dirty="0">
              <a:latin typeface="Times New Roman"/>
              <a:cs typeface="Times New Roman"/>
            </a:endParaRPr>
          </a:p>
          <a:p>
            <a:pPr marL="2308860">
              <a:lnSpc>
                <a:spcPct val="100000"/>
              </a:lnSpc>
              <a:spcBef>
                <a:spcPts val="15"/>
              </a:spcBef>
            </a:pPr>
            <a:r>
              <a:rPr sz="1800" b="1" dirty="0">
                <a:latin typeface="Times New Roman"/>
                <a:cs typeface="Times New Roman"/>
              </a:rPr>
              <a:t>Department</a:t>
            </a:r>
            <a:r>
              <a:rPr sz="1800" b="1" spc="-55" dirty="0">
                <a:latin typeface="Times New Roman"/>
                <a:cs typeface="Times New Roman"/>
              </a:rPr>
              <a:t> </a:t>
            </a:r>
            <a:r>
              <a:rPr sz="1800" b="1" dirty="0">
                <a:latin typeface="Times New Roman"/>
                <a:cs typeface="Times New Roman"/>
              </a:rPr>
              <a:t>of</a:t>
            </a:r>
            <a:r>
              <a:rPr sz="1800" b="1" spc="-55" dirty="0">
                <a:latin typeface="Times New Roman"/>
                <a:cs typeface="Times New Roman"/>
              </a:rPr>
              <a:t> </a:t>
            </a:r>
            <a:r>
              <a:rPr sz="1800" b="1" spc="-10" dirty="0">
                <a:latin typeface="Times New Roman"/>
                <a:cs typeface="Times New Roman"/>
              </a:rPr>
              <a:t>CSE(AI&amp;ML)</a:t>
            </a:r>
            <a:endParaRPr sz="1800" dirty="0">
              <a:latin typeface="Times New Roman"/>
              <a:cs typeface="Times New Roman"/>
            </a:endParaRPr>
          </a:p>
          <a:p>
            <a:pPr marL="12700">
              <a:lnSpc>
                <a:spcPts val="2340"/>
              </a:lnSpc>
              <a:spcBef>
                <a:spcPts val="635"/>
              </a:spcBef>
            </a:pPr>
            <a:r>
              <a:rPr sz="2000" b="1" dirty="0">
                <a:latin typeface="Times New Roman"/>
                <a:cs typeface="Times New Roman"/>
              </a:rPr>
              <a:t>S.</a:t>
            </a:r>
            <a:r>
              <a:rPr sz="2000" b="1" spc="-50" dirty="0">
                <a:latin typeface="Times New Roman"/>
                <a:cs typeface="Times New Roman"/>
              </a:rPr>
              <a:t> </a:t>
            </a:r>
            <a:r>
              <a:rPr sz="2000" b="1" dirty="0">
                <a:latin typeface="Times New Roman"/>
                <a:cs typeface="Times New Roman"/>
              </a:rPr>
              <a:t>B.</a:t>
            </a:r>
            <a:r>
              <a:rPr sz="2000" b="1" spc="-50" dirty="0">
                <a:latin typeface="Times New Roman"/>
                <a:cs typeface="Times New Roman"/>
              </a:rPr>
              <a:t> </a:t>
            </a:r>
            <a:r>
              <a:rPr sz="2000" b="1" dirty="0">
                <a:latin typeface="Times New Roman"/>
                <a:cs typeface="Times New Roman"/>
              </a:rPr>
              <a:t>JAIN</a:t>
            </a:r>
            <a:r>
              <a:rPr sz="2000" b="1" spc="-55" dirty="0">
                <a:latin typeface="Times New Roman"/>
                <a:cs typeface="Times New Roman"/>
              </a:rPr>
              <a:t> </a:t>
            </a:r>
            <a:r>
              <a:rPr sz="2000" b="1" spc="-10" dirty="0">
                <a:latin typeface="Times New Roman"/>
                <a:cs typeface="Times New Roman"/>
              </a:rPr>
              <a:t>INSTITUTE</a:t>
            </a:r>
            <a:r>
              <a:rPr sz="2000" b="1" spc="-55" dirty="0">
                <a:latin typeface="Times New Roman"/>
                <a:cs typeface="Times New Roman"/>
              </a:rPr>
              <a:t> </a:t>
            </a:r>
            <a:r>
              <a:rPr sz="2000" b="1" dirty="0">
                <a:latin typeface="Times New Roman"/>
                <a:cs typeface="Times New Roman"/>
              </a:rPr>
              <a:t>OF</a:t>
            </a:r>
            <a:r>
              <a:rPr sz="2000" b="1" spc="-55" dirty="0">
                <a:latin typeface="Times New Roman"/>
                <a:cs typeface="Times New Roman"/>
              </a:rPr>
              <a:t> </a:t>
            </a:r>
            <a:r>
              <a:rPr sz="2000" b="1" spc="-10" dirty="0">
                <a:latin typeface="Times New Roman"/>
                <a:cs typeface="Times New Roman"/>
              </a:rPr>
              <a:t>TECHNOLOGY</a:t>
            </a:r>
            <a:r>
              <a:rPr sz="2000" b="1" spc="-55" dirty="0">
                <a:latin typeface="Times New Roman"/>
                <a:cs typeface="Times New Roman"/>
              </a:rPr>
              <a:t> </a:t>
            </a:r>
            <a:r>
              <a:rPr sz="2000" b="1" spc="-10" dirty="0">
                <a:latin typeface="Times New Roman"/>
                <a:cs typeface="Times New Roman"/>
              </a:rPr>
              <a:t>MANAGEMENT</a:t>
            </a:r>
            <a:r>
              <a:rPr sz="2000" b="1" spc="-55" dirty="0">
                <a:latin typeface="Times New Roman"/>
                <a:cs typeface="Times New Roman"/>
              </a:rPr>
              <a:t> </a:t>
            </a:r>
            <a:r>
              <a:rPr sz="2000" b="1" spc="-25" dirty="0">
                <a:latin typeface="Times New Roman"/>
                <a:cs typeface="Times New Roman"/>
              </a:rPr>
              <a:t>AND</a:t>
            </a:r>
            <a:endParaRPr sz="2000" dirty="0">
              <a:latin typeface="Times New Roman"/>
              <a:cs typeface="Times New Roman"/>
            </a:endParaRPr>
          </a:p>
          <a:p>
            <a:pPr marL="2286000">
              <a:lnSpc>
                <a:spcPts val="2255"/>
              </a:lnSpc>
            </a:pPr>
            <a:r>
              <a:rPr sz="2000" b="1" spc="-10" dirty="0">
                <a:latin typeface="Times New Roman"/>
                <a:cs typeface="Times New Roman"/>
              </a:rPr>
              <a:t>RESEARCH,NAGPUR</a:t>
            </a:r>
            <a:endParaRPr sz="2000" dirty="0">
              <a:latin typeface="Times New Roman"/>
              <a:cs typeface="Times New Roman"/>
            </a:endParaRPr>
          </a:p>
          <a:p>
            <a:pPr marL="483870">
              <a:lnSpc>
                <a:spcPts val="2315"/>
              </a:lnSpc>
            </a:pPr>
            <a:r>
              <a:rPr sz="2000" b="1" dirty="0">
                <a:latin typeface="Times New Roman"/>
                <a:cs typeface="Times New Roman"/>
              </a:rPr>
              <a:t>An</a:t>
            </a:r>
            <a:r>
              <a:rPr sz="2000" b="1" spc="-40" dirty="0">
                <a:latin typeface="Times New Roman"/>
                <a:cs typeface="Times New Roman"/>
              </a:rPr>
              <a:t> </a:t>
            </a:r>
            <a:r>
              <a:rPr sz="2000" b="1" dirty="0">
                <a:latin typeface="Times New Roman"/>
                <a:cs typeface="Times New Roman"/>
              </a:rPr>
              <a:t>Autonomous</a:t>
            </a:r>
            <a:r>
              <a:rPr sz="2000" b="1" spc="-40" dirty="0">
                <a:latin typeface="Times New Roman"/>
                <a:cs typeface="Times New Roman"/>
              </a:rPr>
              <a:t> </a:t>
            </a:r>
            <a:r>
              <a:rPr sz="2000" b="1" dirty="0">
                <a:latin typeface="Times New Roman"/>
                <a:cs typeface="Times New Roman"/>
              </a:rPr>
              <a:t>Institute,</a:t>
            </a:r>
            <a:r>
              <a:rPr sz="2000" b="1" spc="-35" dirty="0">
                <a:latin typeface="Times New Roman"/>
                <a:cs typeface="Times New Roman"/>
              </a:rPr>
              <a:t> </a:t>
            </a:r>
            <a:r>
              <a:rPr sz="2000" b="1" dirty="0">
                <a:latin typeface="Times New Roman"/>
                <a:cs typeface="Times New Roman"/>
              </a:rPr>
              <a:t>Affiliated</a:t>
            </a:r>
            <a:r>
              <a:rPr sz="2000" b="1" spc="-35" dirty="0">
                <a:latin typeface="Times New Roman"/>
                <a:cs typeface="Times New Roman"/>
              </a:rPr>
              <a:t> </a:t>
            </a:r>
            <a:r>
              <a:rPr sz="2000" b="1" dirty="0">
                <a:latin typeface="Times New Roman"/>
                <a:cs typeface="Times New Roman"/>
              </a:rPr>
              <a:t>to</a:t>
            </a:r>
            <a:r>
              <a:rPr sz="2000" b="1" spc="-35" dirty="0">
                <a:latin typeface="Times New Roman"/>
                <a:cs typeface="Times New Roman"/>
              </a:rPr>
              <a:t> </a:t>
            </a:r>
            <a:r>
              <a:rPr sz="2000" b="1" dirty="0">
                <a:latin typeface="Times New Roman"/>
                <a:cs typeface="Times New Roman"/>
              </a:rPr>
              <a:t>RTMNU,</a:t>
            </a:r>
            <a:r>
              <a:rPr sz="2000" b="1" spc="-35" dirty="0">
                <a:latin typeface="Times New Roman"/>
                <a:cs typeface="Times New Roman"/>
              </a:rPr>
              <a:t> </a:t>
            </a:r>
            <a:r>
              <a:rPr sz="2000" b="1" spc="-10" dirty="0">
                <a:latin typeface="Times New Roman"/>
                <a:cs typeface="Times New Roman"/>
              </a:rPr>
              <a:t>Nagpur</a:t>
            </a:r>
            <a:endParaRPr sz="2000" dirty="0">
              <a:latin typeface="Times New Roman"/>
              <a:cs typeface="Times New Roman"/>
            </a:endParaRPr>
          </a:p>
          <a:p>
            <a:pPr marR="5080" algn="r">
              <a:lnSpc>
                <a:spcPct val="100000"/>
              </a:lnSpc>
              <a:spcBef>
                <a:spcPts val="1770"/>
              </a:spcBef>
            </a:pPr>
            <a:r>
              <a:rPr sz="1400" b="1" spc="-50" dirty="0">
                <a:solidFill>
                  <a:srgbClr val="FFFFFF"/>
                </a:solidFill>
                <a:latin typeface="Arial"/>
                <a:cs typeface="Arial"/>
              </a:rPr>
              <a:t>)</a:t>
            </a:r>
            <a:endParaRPr sz="14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BEA034-C24B-63E7-8562-0770A0BDBAF0}"/>
              </a:ext>
            </a:extLst>
          </p:cNvPr>
          <p:cNvSpPr txBox="1"/>
          <p:nvPr/>
        </p:nvSpPr>
        <p:spPr>
          <a:xfrm>
            <a:off x="685800" y="457200"/>
            <a:ext cx="4519186" cy="646331"/>
          </a:xfrm>
          <a:prstGeom prst="rect">
            <a:avLst/>
          </a:prstGeom>
          <a:noFill/>
        </p:spPr>
        <p:txBody>
          <a:bodyPr wrap="none" rtlCol="0">
            <a:spAutoFit/>
          </a:bodyPr>
          <a:lstStyle/>
          <a:p>
            <a:r>
              <a:rPr lang="en-US" sz="3600" dirty="0"/>
              <a:t>Problem Statement : </a:t>
            </a:r>
          </a:p>
        </p:txBody>
      </p:sp>
      <p:sp>
        <p:nvSpPr>
          <p:cNvPr id="3" name="TextBox 2">
            <a:extLst>
              <a:ext uri="{FF2B5EF4-FFF2-40B4-BE49-F238E27FC236}">
                <a16:creationId xmlns:a16="http://schemas.microsoft.com/office/drawing/2014/main" id="{E597FFE4-79A4-F005-8609-AF65CDAD5755}"/>
              </a:ext>
            </a:extLst>
          </p:cNvPr>
          <p:cNvSpPr txBox="1"/>
          <p:nvPr/>
        </p:nvSpPr>
        <p:spPr>
          <a:xfrm>
            <a:off x="228600" y="1600200"/>
            <a:ext cx="4519186" cy="4611519"/>
          </a:xfrm>
          <a:prstGeom prst="rect">
            <a:avLst/>
          </a:prstGeom>
          <a:noFill/>
        </p:spPr>
        <p:txBody>
          <a:bodyPr wrap="square" rtlCol="0">
            <a:spAutoFit/>
          </a:bodyPr>
          <a:lstStyle/>
          <a:p>
            <a:pPr>
              <a:lnSpc>
                <a:spcPct val="150000"/>
              </a:lnSpc>
            </a:pPr>
            <a:r>
              <a:rPr lang="en-US" dirty="0"/>
              <a:t>Develop a </a:t>
            </a:r>
            <a:r>
              <a:rPr lang="en-US" b="1" dirty="0"/>
              <a:t>Python-based Snake Game</a:t>
            </a:r>
            <a:r>
              <a:rPr lang="en-US" dirty="0"/>
              <a:t> in which the player controls a snake that moves continuously on the screen to collect food. Each time the snake eats food, its length increases and the player's score is updated. The game ends if the snake collides with the screen boundaries or with its own body. The application should provide </a:t>
            </a:r>
            <a:r>
              <a:rPr lang="en-US" b="1" dirty="0"/>
              <a:t>smooth gameplay, score tracking, and options to restart or exit after the game is over</a:t>
            </a:r>
            <a:r>
              <a:rPr lang="en-US" dirty="0"/>
              <a:t>.</a:t>
            </a:r>
          </a:p>
        </p:txBody>
      </p:sp>
      <p:sp>
        <p:nvSpPr>
          <p:cNvPr id="4" name="TextBox 3">
            <a:extLst>
              <a:ext uri="{FF2B5EF4-FFF2-40B4-BE49-F238E27FC236}">
                <a16:creationId xmlns:a16="http://schemas.microsoft.com/office/drawing/2014/main" id="{7A059C34-B4AD-ACAA-94E9-9AB711AB5B55}"/>
              </a:ext>
            </a:extLst>
          </p:cNvPr>
          <p:cNvSpPr txBox="1"/>
          <p:nvPr/>
        </p:nvSpPr>
        <p:spPr>
          <a:xfrm>
            <a:off x="304800" y="6324600"/>
            <a:ext cx="7391400" cy="369332"/>
          </a:xfrm>
          <a:prstGeom prst="rect">
            <a:avLst/>
          </a:prstGeom>
          <a:noFill/>
        </p:spPr>
        <p:txBody>
          <a:bodyPr wrap="square" rtlCol="0">
            <a:spAutoFit/>
          </a:bodyPr>
          <a:lstStyle/>
          <a:p>
            <a:pPr marL="12700">
              <a:lnSpc>
                <a:spcPct val="100000"/>
              </a:lnSpc>
              <a:spcBef>
                <a:spcPts val="100"/>
              </a:spcBef>
            </a:pPr>
            <a:r>
              <a:rPr lang="en-US" sz="1800">
                <a:solidFill>
                  <a:srgbClr val="8B8B8B"/>
                </a:solidFill>
                <a:latin typeface="Cambria"/>
                <a:cs typeface="Cambria"/>
              </a:rPr>
              <a:t>S.</a:t>
            </a:r>
            <a:r>
              <a:rPr lang="en-US" sz="1800" spc="-30">
                <a:solidFill>
                  <a:srgbClr val="8B8B8B"/>
                </a:solidFill>
                <a:latin typeface="Cambria"/>
                <a:cs typeface="Cambria"/>
              </a:rPr>
              <a:t> </a:t>
            </a:r>
            <a:r>
              <a:rPr lang="en-US" sz="1800">
                <a:solidFill>
                  <a:srgbClr val="8B8B8B"/>
                </a:solidFill>
                <a:latin typeface="Cambria"/>
                <a:cs typeface="Cambria"/>
              </a:rPr>
              <a:t>B.</a:t>
            </a:r>
            <a:r>
              <a:rPr lang="en-US" sz="1800" spc="-25">
                <a:solidFill>
                  <a:srgbClr val="8B8B8B"/>
                </a:solidFill>
                <a:latin typeface="Cambria"/>
                <a:cs typeface="Cambria"/>
              </a:rPr>
              <a:t> </a:t>
            </a:r>
            <a:r>
              <a:rPr lang="en-US" sz="1800">
                <a:solidFill>
                  <a:srgbClr val="8B8B8B"/>
                </a:solidFill>
                <a:latin typeface="Cambria"/>
                <a:cs typeface="Cambria"/>
              </a:rPr>
              <a:t>Jain</a:t>
            </a:r>
            <a:r>
              <a:rPr lang="en-US" sz="1800" spc="-25">
                <a:solidFill>
                  <a:srgbClr val="8B8B8B"/>
                </a:solidFill>
                <a:latin typeface="Cambria"/>
                <a:cs typeface="Cambria"/>
              </a:rPr>
              <a:t> </a:t>
            </a:r>
            <a:r>
              <a:rPr lang="en-US" sz="1800" spc="-10">
                <a:solidFill>
                  <a:srgbClr val="8B8B8B"/>
                </a:solidFill>
                <a:latin typeface="Cambria"/>
                <a:cs typeface="Cambria"/>
              </a:rPr>
              <a:t>Institute</a:t>
            </a:r>
            <a:r>
              <a:rPr lang="en-US" sz="1800" spc="-30">
                <a:solidFill>
                  <a:srgbClr val="8B8B8B"/>
                </a:solidFill>
                <a:latin typeface="Cambria"/>
                <a:cs typeface="Cambria"/>
              </a:rPr>
              <a:t> </a:t>
            </a:r>
            <a:r>
              <a:rPr lang="en-US" sz="1800">
                <a:solidFill>
                  <a:srgbClr val="8B8B8B"/>
                </a:solidFill>
                <a:latin typeface="Cambria"/>
                <a:cs typeface="Cambria"/>
              </a:rPr>
              <a:t>of</a:t>
            </a:r>
            <a:r>
              <a:rPr lang="en-US" sz="1800" spc="-25">
                <a:solidFill>
                  <a:srgbClr val="8B8B8B"/>
                </a:solidFill>
                <a:latin typeface="Cambria"/>
                <a:cs typeface="Cambria"/>
              </a:rPr>
              <a:t> </a:t>
            </a:r>
            <a:r>
              <a:rPr lang="en-US" sz="1800">
                <a:solidFill>
                  <a:srgbClr val="8B8B8B"/>
                </a:solidFill>
                <a:latin typeface="Cambria"/>
                <a:cs typeface="Cambria"/>
              </a:rPr>
              <a:t>Technology</a:t>
            </a:r>
            <a:r>
              <a:rPr lang="en-US" sz="1800" spc="-25">
                <a:solidFill>
                  <a:srgbClr val="8B8B8B"/>
                </a:solidFill>
                <a:latin typeface="Cambria"/>
                <a:cs typeface="Cambria"/>
              </a:rPr>
              <a:t> </a:t>
            </a:r>
            <a:r>
              <a:rPr lang="en-US" sz="1800">
                <a:solidFill>
                  <a:srgbClr val="8B8B8B"/>
                </a:solidFill>
                <a:latin typeface="Cambria"/>
                <a:cs typeface="Cambria"/>
              </a:rPr>
              <a:t>Management</a:t>
            </a:r>
            <a:r>
              <a:rPr lang="en-US" sz="1800" spc="-30">
                <a:solidFill>
                  <a:srgbClr val="8B8B8B"/>
                </a:solidFill>
                <a:latin typeface="Cambria"/>
                <a:cs typeface="Cambria"/>
              </a:rPr>
              <a:t> </a:t>
            </a:r>
            <a:r>
              <a:rPr lang="en-US" sz="1800">
                <a:solidFill>
                  <a:srgbClr val="8B8B8B"/>
                </a:solidFill>
                <a:latin typeface="Cambria"/>
                <a:cs typeface="Cambria"/>
              </a:rPr>
              <a:t>and</a:t>
            </a:r>
            <a:r>
              <a:rPr lang="en-US" sz="1800" spc="-25">
                <a:solidFill>
                  <a:srgbClr val="8B8B8B"/>
                </a:solidFill>
                <a:latin typeface="Cambria"/>
                <a:cs typeface="Cambria"/>
              </a:rPr>
              <a:t> </a:t>
            </a:r>
            <a:r>
              <a:rPr lang="en-US" sz="1800" spc="-10">
                <a:solidFill>
                  <a:srgbClr val="8B8B8B"/>
                </a:solidFill>
                <a:latin typeface="Cambria"/>
                <a:cs typeface="Cambria"/>
              </a:rPr>
              <a:t>research</a:t>
            </a:r>
            <a:endParaRPr lang="en-US" sz="1800" dirty="0">
              <a:latin typeface="Cambria"/>
              <a:cs typeface="Cambria"/>
            </a:endParaRPr>
          </a:p>
        </p:txBody>
      </p:sp>
      <p:pic>
        <p:nvPicPr>
          <p:cNvPr id="6" name="Picture 5">
            <a:extLst>
              <a:ext uri="{FF2B5EF4-FFF2-40B4-BE49-F238E27FC236}">
                <a16:creationId xmlns:a16="http://schemas.microsoft.com/office/drawing/2014/main" id="{3AA5951F-05CC-1D9F-345D-0BB5365B6B61}"/>
              </a:ext>
            </a:extLst>
          </p:cNvPr>
          <p:cNvPicPr>
            <a:picLocks noChangeAspect="1"/>
          </p:cNvPicPr>
          <p:nvPr/>
        </p:nvPicPr>
        <p:blipFill>
          <a:blip r:embed="rId2"/>
          <a:stretch>
            <a:fillRect/>
          </a:stretch>
        </p:blipFill>
        <p:spPr>
          <a:xfrm>
            <a:off x="5562600" y="3657600"/>
            <a:ext cx="2944885" cy="2161705"/>
          </a:xfrm>
          <a:prstGeom prst="rect">
            <a:avLst/>
          </a:prstGeom>
        </p:spPr>
      </p:pic>
      <p:pic>
        <p:nvPicPr>
          <p:cNvPr id="8" name="Picture 7">
            <a:extLst>
              <a:ext uri="{FF2B5EF4-FFF2-40B4-BE49-F238E27FC236}">
                <a16:creationId xmlns:a16="http://schemas.microsoft.com/office/drawing/2014/main" id="{823FC75C-9539-CC7C-508A-D7EA396CDA49}"/>
              </a:ext>
            </a:extLst>
          </p:cNvPr>
          <p:cNvPicPr>
            <a:picLocks noChangeAspect="1"/>
          </p:cNvPicPr>
          <p:nvPr/>
        </p:nvPicPr>
        <p:blipFill>
          <a:blip r:embed="rId3"/>
          <a:stretch>
            <a:fillRect/>
          </a:stretch>
        </p:blipFill>
        <p:spPr>
          <a:xfrm>
            <a:off x="4753882" y="1091339"/>
            <a:ext cx="4058216" cy="819264"/>
          </a:xfrm>
          <a:prstGeom prst="rect">
            <a:avLst/>
          </a:prstGeom>
        </p:spPr>
      </p:pic>
      <p:pic>
        <p:nvPicPr>
          <p:cNvPr id="10" name="Picture 9">
            <a:extLst>
              <a:ext uri="{FF2B5EF4-FFF2-40B4-BE49-F238E27FC236}">
                <a16:creationId xmlns:a16="http://schemas.microsoft.com/office/drawing/2014/main" id="{1F82EE6C-F63D-38A7-09FC-19A863B428A8}"/>
              </a:ext>
            </a:extLst>
          </p:cNvPr>
          <p:cNvPicPr>
            <a:picLocks noChangeAspect="1"/>
          </p:cNvPicPr>
          <p:nvPr/>
        </p:nvPicPr>
        <p:blipFill>
          <a:blip r:embed="rId4"/>
          <a:stretch>
            <a:fillRect/>
          </a:stretch>
        </p:blipFill>
        <p:spPr>
          <a:xfrm>
            <a:off x="5115882" y="2139634"/>
            <a:ext cx="3334215" cy="5525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83424" y="6355916"/>
            <a:ext cx="57823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B8B8B"/>
                </a:solidFill>
                <a:latin typeface="Cambria"/>
                <a:cs typeface="Cambria"/>
              </a:rPr>
              <a:t>S.</a:t>
            </a:r>
            <a:r>
              <a:rPr sz="1800" spc="-30" dirty="0">
                <a:solidFill>
                  <a:srgbClr val="8B8B8B"/>
                </a:solidFill>
                <a:latin typeface="Cambria"/>
                <a:cs typeface="Cambria"/>
              </a:rPr>
              <a:t> </a:t>
            </a:r>
            <a:r>
              <a:rPr sz="1800" dirty="0">
                <a:solidFill>
                  <a:srgbClr val="8B8B8B"/>
                </a:solidFill>
                <a:latin typeface="Cambria"/>
                <a:cs typeface="Cambria"/>
              </a:rPr>
              <a:t>B.</a:t>
            </a:r>
            <a:r>
              <a:rPr sz="1800" spc="-25" dirty="0">
                <a:solidFill>
                  <a:srgbClr val="8B8B8B"/>
                </a:solidFill>
                <a:latin typeface="Cambria"/>
                <a:cs typeface="Cambria"/>
              </a:rPr>
              <a:t> </a:t>
            </a:r>
            <a:r>
              <a:rPr sz="1800" dirty="0">
                <a:solidFill>
                  <a:srgbClr val="8B8B8B"/>
                </a:solidFill>
                <a:latin typeface="Cambria"/>
                <a:cs typeface="Cambria"/>
              </a:rPr>
              <a:t>Jain</a:t>
            </a:r>
            <a:r>
              <a:rPr sz="1800" spc="-25" dirty="0">
                <a:solidFill>
                  <a:srgbClr val="8B8B8B"/>
                </a:solidFill>
                <a:latin typeface="Cambria"/>
                <a:cs typeface="Cambria"/>
              </a:rPr>
              <a:t> </a:t>
            </a:r>
            <a:r>
              <a:rPr sz="1800" spc="-10" dirty="0">
                <a:solidFill>
                  <a:srgbClr val="8B8B8B"/>
                </a:solidFill>
                <a:latin typeface="Cambria"/>
                <a:cs typeface="Cambria"/>
              </a:rPr>
              <a:t>Institute</a:t>
            </a:r>
            <a:r>
              <a:rPr sz="1800" spc="-30" dirty="0">
                <a:solidFill>
                  <a:srgbClr val="8B8B8B"/>
                </a:solidFill>
                <a:latin typeface="Cambria"/>
                <a:cs typeface="Cambria"/>
              </a:rPr>
              <a:t> </a:t>
            </a:r>
            <a:r>
              <a:rPr sz="1800" dirty="0">
                <a:solidFill>
                  <a:srgbClr val="8B8B8B"/>
                </a:solidFill>
                <a:latin typeface="Cambria"/>
                <a:cs typeface="Cambria"/>
              </a:rPr>
              <a:t>of</a:t>
            </a:r>
            <a:r>
              <a:rPr sz="1800" spc="-25" dirty="0">
                <a:solidFill>
                  <a:srgbClr val="8B8B8B"/>
                </a:solidFill>
                <a:latin typeface="Cambria"/>
                <a:cs typeface="Cambria"/>
              </a:rPr>
              <a:t> </a:t>
            </a:r>
            <a:r>
              <a:rPr sz="1800" dirty="0">
                <a:solidFill>
                  <a:srgbClr val="8B8B8B"/>
                </a:solidFill>
                <a:latin typeface="Cambria"/>
                <a:cs typeface="Cambria"/>
              </a:rPr>
              <a:t>Technology</a:t>
            </a:r>
            <a:r>
              <a:rPr sz="1800" spc="-25" dirty="0">
                <a:solidFill>
                  <a:srgbClr val="8B8B8B"/>
                </a:solidFill>
                <a:latin typeface="Cambria"/>
                <a:cs typeface="Cambria"/>
              </a:rPr>
              <a:t> </a:t>
            </a:r>
            <a:r>
              <a:rPr sz="1800" dirty="0">
                <a:solidFill>
                  <a:srgbClr val="8B8B8B"/>
                </a:solidFill>
                <a:latin typeface="Cambria"/>
                <a:cs typeface="Cambria"/>
              </a:rPr>
              <a:t>Management</a:t>
            </a:r>
            <a:r>
              <a:rPr sz="1800" spc="-30" dirty="0">
                <a:solidFill>
                  <a:srgbClr val="8B8B8B"/>
                </a:solidFill>
                <a:latin typeface="Cambria"/>
                <a:cs typeface="Cambria"/>
              </a:rPr>
              <a:t> </a:t>
            </a:r>
            <a:r>
              <a:rPr sz="1800" dirty="0">
                <a:solidFill>
                  <a:srgbClr val="8B8B8B"/>
                </a:solidFill>
                <a:latin typeface="Cambria"/>
                <a:cs typeface="Cambria"/>
              </a:rPr>
              <a:t>and</a:t>
            </a:r>
            <a:r>
              <a:rPr sz="1800" spc="-25" dirty="0">
                <a:solidFill>
                  <a:srgbClr val="8B8B8B"/>
                </a:solidFill>
                <a:latin typeface="Cambria"/>
                <a:cs typeface="Cambria"/>
              </a:rPr>
              <a:t> </a:t>
            </a:r>
            <a:r>
              <a:rPr sz="1800" spc="-10" dirty="0">
                <a:solidFill>
                  <a:srgbClr val="8B8B8B"/>
                </a:solidFill>
                <a:latin typeface="Cambria"/>
                <a:cs typeface="Cambria"/>
              </a:rPr>
              <a:t>research</a:t>
            </a:r>
            <a:endParaRPr sz="1800" dirty="0">
              <a:latin typeface="Cambria"/>
              <a:cs typeface="Cambria"/>
            </a:endParaRPr>
          </a:p>
        </p:txBody>
      </p:sp>
      <p:sp>
        <p:nvSpPr>
          <p:cNvPr id="4" name="TextBox 3">
            <a:extLst>
              <a:ext uri="{FF2B5EF4-FFF2-40B4-BE49-F238E27FC236}">
                <a16:creationId xmlns:a16="http://schemas.microsoft.com/office/drawing/2014/main" id="{D6E6326A-53B5-2453-3274-BF7206D36050}"/>
              </a:ext>
            </a:extLst>
          </p:cNvPr>
          <p:cNvSpPr txBox="1"/>
          <p:nvPr/>
        </p:nvSpPr>
        <p:spPr>
          <a:xfrm>
            <a:off x="381000" y="228600"/>
            <a:ext cx="5638800" cy="4596130"/>
          </a:xfrm>
          <a:prstGeom prst="rect">
            <a:avLst/>
          </a:prstGeom>
          <a:noFill/>
        </p:spPr>
        <p:txBody>
          <a:bodyPr wrap="square" rtlCol="0">
            <a:spAutoFit/>
          </a:bodyPr>
          <a:lstStyle/>
          <a:p>
            <a:r>
              <a:rPr lang="en-US" sz="4000" dirty="0"/>
              <a:t>Objectives :- </a:t>
            </a:r>
          </a:p>
          <a:p>
            <a:endParaRPr lang="en-US" sz="4000" dirty="0"/>
          </a:p>
          <a:p>
            <a:pPr marL="342900" indent="-342900">
              <a:lnSpc>
                <a:spcPct val="150000"/>
              </a:lnSpc>
              <a:buFont typeface="+mj-lt"/>
              <a:buAutoNum type="arabicPeriod"/>
            </a:pPr>
            <a:r>
              <a:rPr lang="en-US" dirty="0"/>
              <a:t>To develop a functional Snake game using Python and </a:t>
            </a:r>
            <a:r>
              <a:rPr lang="en-US" dirty="0" err="1"/>
              <a:t>Pygame</a:t>
            </a:r>
            <a:r>
              <a:rPr lang="en-US" dirty="0"/>
              <a:t>.</a:t>
            </a:r>
          </a:p>
          <a:p>
            <a:pPr marL="342900" indent="-342900">
              <a:lnSpc>
                <a:spcPct val="150000"/>
              </a:lnSpc>
              <a:buFont typeface="+mj-lt"/>
              <a:buAutoNum type="arabicPeriod"/>
            </a:pPr>
            <a:r>
              <a:rPr lang="en-US" dirty="0"/>
              <a:t>To improve programming skills involving Python classes, lists, functions, loops, conditions, and event handling. </a:t>
            </a:r>
          </a:p>
          <a:p>
            <a:pPr marL="342900" indent="-342900">
              <a:lnSpc>
                <a:spcPct val="150000"/>
              </a:lnSpc>
              <a:buFont typeface="+mj-lt"/>
              <a:buAutoNum type="arabicPeriod"/>
            </a:pPr>
            <a:r>
              <a:rPr lang="en-US" dirty="0"/>
              <a:t>To develop practical Based learning by implementing real life situations</a:t>
            </a:r>
          </a:p>
          <a:p>
            <a:pPr marL="342900" indent="-342900">
              <a:lnSpc>
                <a:spcPct val="150000"/>
              </a:lnSpc>
              <a:buFont typeface="+mj-lt"/>
              <a:buAutoNum type="arabicPeriod"/>
            </a:pPr>
            <a:r>
              <a:rPr lang="en-US" dirty="0"/>
              <a:t>Understand logic used to build a game.</a:t>
            </a:r>
          </a:p>
        </p:txBody>
      </p:sp>
      <p:pic>
        <p:nvPicPr>
          <p:cNvPr id="5" name="Picture 4">
            <a:extLst>
              <a:ext uri="{FF2B5EF4-FFF2-40B4-BE49-F238E27FC236}">
                <a16:creationId xmlns:a16="http://schemas.microsoft.com/office/drawing/2014/main" id="{5C9FF53F-A61E-5374-63EB-2D0387AE0826}"/>
              </a:ext>
            </a:extLst>
          </p:cNvPr>
          <p:cNvPicPr>
            <a:picLocks noChangeAspect="1"/>
          </p:cNvPicPr>
          <p:nvPr/>
        </p:nvPicPr>
        <p:blipFill>
          <a:blip r:embed="rId2"/>
          <a:stretch>
            <a:fillRect/>
          </a:stretch>
        </p:blipFill>
        <p:spPr>
          <a:xfrm>
            <a:off x="2600325" y="4731586"/>
            <a:ext cx="6162675" cy="1624330"/>
          </a:xfrm>
          <a:prstGeom prst="rect">
            <a:avLst/>
          </a:prstGeom>
        </p:spPr>
      </p:pic>
      <p:pic>
        <p:nvPicPr>
          <p:cNvPr id="7" name="Picture 6">
            <a:extLst>
              <a:ext uri="{FF2B5EF4-FFF2-40B4-BE49-F238E27FC236}">
                <a16:creationId xmlns:a16="http://schemas.microsoft.com/office/drawing/2014/main" id="{DCC90F80-1674-A4DD-655C-C391B4860D68}"/>
              </a:ext>
            </a:extLst>
          </p:cNvPr>
          <p:cNvPicPr>
            <a:picLocks noChangeAspect="1"/>
          </p:cNvPicPr>
          <p:nvPr/>
        </p:nvPicPr>
        <p:blipFill>
          <a:blip r:embed="rId3"/>
          <a:stretch>
            <a:fillRect/>
          </a:stretch>
        </p:blipFill>
        <p:spPr>
          <a:xfrm>
            <a:off x="381000" y="4953000"/>
            <a:ext cx="1295400" cy="1295400"/>
          </a:xfrm>
          <a:prstGeom prst="rect">
            <a:avLst/>
          </a:prstGeom>
        </p:spPr>
      </p:pic>
      <p:pic>
        <p:nvPicPr>
          <p:cNvPr id="8" name="Picture 7">
            <a:extLst>
              <a:ext uri="{FF2B5EF4-FFF2-40B4-BE49-F238E27FC236}">
                <a16:creationId xmlns:a16="http://schemas.microsoft.com/office/drawing/2014/main" id="{955D5781-BF2F-566A-856B-B2F893A682A1}"/>
              </a:ext>
            </a:extLst>
          </p:cNvPr>
          <p:cNvPicPr>
            <a:picLocks noChangeAspect="1"/>
          </p:cNvPicPr>
          <p:nvPr/>
        </p:nvPicPr>
        <p:blipFill>
          <a:blip r:embed="rId4"/>
          <a:stretch>
            <a:fillRect/>
          </a:stretch>
        </p:blipFill>
        <p:spPr>
          <a:xfrm>
            <a:off x="6096000" y="355279"/>
            <a:ext cx="2876013" cy="287601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8CABC-141A-0900-173C-0160FD94821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C82C377-B15E-72D2-0BA3-BC7BF1F61F4C}"/>
              </a:ext>
            </a:extLst>
          </p:cNvPr>
          <p:cNvSpPr txBox="1"/>
          <p:nvPr/>
        </p:nvSpPr>
        <p:spPr>
          <a:xfrm>
            <a:off x="483424" y="6355916"/>
            <a:ext cx="57823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B8B8B"/>
                </a:solidFill>
                <a:latin typeface="Cambria"/>
                <a:cs typeface="Cambria"/>
              </a:rPr>
              <a:t>S.</a:t>
            </a:r>
            <a:r>
              <a:rPr sz="1800" spc="-30" dirty="0">
                <a:solidFill>
                  <a:srgbClr val="8B8B8B"/>
                </a:solidFill>
                <a:latin typeface="Cambria"/>
                <a:cs typeface="Cambria"/>
              </a:rPr>
              <a:t> </a:t>
            </a:r>
            <a:r>
              <a:rPr sz="1800" dirty="0">
                <a:solidFill>
                  <a:srgbClr val="8B8B8B"/>
                </a:solidFill>
                <a:latin typeface="Cambria"/>
                <a:cs typeface="Cambria"/>
              </a:rPr>
              <a:t>B.</a:t>
            </a:r>
            <a:r>
              <a:rPr sz="1800" spc="-25" dirty="0">
                <a:solidFill>
                  <a:srgbClr val="8B8B8B"/>
                </a:solidFill>
                <a:latin typeface="Cambria"/>
                <a:cs typeface="Cambria"/>
              </a:rPr>
              <a:t> </a:t>
            </a:r>
            <a:r>
              <a:rPr sz="1800" dirty="0">
                <a:solidFill>
                  <a:srgbClr val="8B8B8B"/>
                </a:solidFill>
                <a:latin typeface="Cambria"/>
                <a:cs typeface="Cambria"/>
              </a:rPr>
              <a:t>Jain</a:t>
            </a:r>
            <a:r>
              <a:rPr sz="1800" spc="-25" dirty="0">
                <a:solidFill>
                  <a:srgbClr val="8B8B8B"/>
                </a:solidFill>
                <a:latin typeface="Cambria"/>
                <a:cs typeface="Cambria"/>
              </a:rPr>
              <a:t> </a:t>
            </a:r>
            <a:r>
              <a:rPr sz="1800" spc="-10" dirty="0">
                <a:solidFill>
                  <a:srgbClr val="8B8B8B"/>
                </a:solidFill>
                <a:latin typeface="Cambria"/>
                <a:cs typeface="Cambria"/>
              </a:rPr>
              <a:t>Institute</a:t>
            </a:r>
            <a:r>
              <a:rPr sz="1800" spc="-30" dirty="0">
                <a:solidFill>
                  <a:srgbClr val="8B8B8B"/>
                </a:solidFill>
                <a:latin typeface="Cambria"/>
                <a:cs typeface="Cambria"/>
              </a:rPr>
              <a:t> </a:t>
            </a:r>
            <a:r>
              <a:rPr sz="1800" dirty="0">
                <a:solidFill>
                  <a:srgbClr val="8B8B8B"/>
                </a:solidFill>
                <a:latin typeface="Cambria"/>
                <a:cs typeface="Cambria"/>
              </a:rPr>
              <a:t>of</a:t>
            </a:r>
            <a:r>
              <a:rPr sz="1800" spc="-25" dirty="0">
                <a:solidFill>
                  <a:srgbClr val="8B8B8B"/>
                </a:solidFill>
                <a:latin typeface="Cambria"/>
                <a:cs typeface="Cambria"/>
              </a:rPr>
              <a:t> </a:t>
            </a:r>
            <a:r>
              <a:rPr sz="1800" dirty="0">
                <a:solidFill>
                  <a:srgbClr val="8B8B8B"/>
                </a:solidFill>
                <a:latin typeface="Cambria"/>
                <a:cs typeface="Cambria"/>
              </a:rPr>
              <a:t>Technology</a:t>
            </a:r>
            <a:r>
              <a:rPr sz="1800" spc="-25" dirty="0">
                <a:solidFill>
                  <a:srgbClr val="8B8B8B"/>
                </a:solidFill>
                <a:latin typeface="Cambria"/>
                <a:cs typeface="Cambria"/>
              </a:rPr>
              <a:t> </a:t>
            </a:r>
            <a:r>
              <a:rPr sz="1800" dirty="0">
                <a:solidFill>
                  <a:srgbClr val="8B8B8B"/>
                </a:solidFill>
                <a:latin typeface="Cambria"/>
                <a:cs typeface="Cambria"/>
              </a:rPr>
              <a:t>Management</a:t>
            </a:r>
            <a:r>
              <a:rPr sz="1800" spc="-30" dirty="0">
                <a:solidFill>
                  <a:srgbClr val="8B8B8B"/>
                </a:solidFill>
                <a:latin typeface="Cambria"/>
                <a:cs typeface="Cambria"/>
              </a:rPr>
              <a:t> </a:t>
            </a:r>
            <a:r>
              <a:rPr sz="1800" dirty="0">
                <a:solidFill>
                  <a:srgbClr val="8B8B8B"/>
                </a:solidFill>
                <a:latin typeface="Cambria"/>
                <a:cs typeface="Cambria"/>
              </a:rPr>
              <a:t>and</a:t>
            </a:r>
            <a:r>
              <a:rPr sz="1800" spc="-25" dirty="0">
                <a:solidFill>
                  <a:srgbClr val="8B8B8B"/>
                </a:solidFill>
                <a:latin typeface="Cambria"/>
                <a:cs typeface="Cambria"/>
              </a:rPr>
              <a:t> </a:t>
            </a:r>
            <a:r>
              <a:rPr sz="1800" spc="-10" dirty="0">
                <a:solidFill>
                  <a:srgbClr val="8B8B8B"/>
                </a:solidFill>
                <a:latin typeface="Cambria"/>
                <a:cs typeface="Cambria"/>
              </a:rPr>
              <a:t>research</a:t>
            </a:r>
            <a:endParaRPr sz="1800" dirty="0">
              <a:latin typeface="Cambria"/>
              <a:cs typeface="Cambria"/>
            </a:endParaRPr>
          </a:p>
        </p:txBody>
      </p:sp>
      <p:sp>
        <p:nvSpPr>
          <p:cNvPr id="7" name="TextBox 6">
            <a:extLst>
              <a:ext uri="{FF2B5EF4-FFF2-40B4-BE49-F238E27FC236}">
                <a16:creationId xmlns:a16="http://schemas.microsoft.com/office/drawing/2014/main" id="{FD2A196A-86DA-8B6C-5C61-9D9D1BF46B9D}"/>
              </a:ext>
            </a:extLst>
          </p:cNvPr>
          <p:cNvSpPr txBox="1"/>
          <p:nvPr/>
        </p:nvSpPr>
        <p:spPr>
          <a:xfrm>
            <a:off x="667265" y="383889"/>
            <a:ext cx="3505200" cy="707886"/>
          </a:xfrm>
          <a:prstGeom prst="rect">
            <a:avLst/>
          </a:prstGeom>
          <a:noFill/>
        </p:spPr>
        <p:txBody>
          <a:bodyPr wrap="square" rtlCol="0">
            <a:spAutoFit/>
          </a:bodyPr>
          <a:lstStyle/>
          <a:p>
            <a:r>
              <a:rPr lang="en-US" sz="4000" dirty="0"/>
              <a:t>Algorithm:- </a:t>
            </a:r>
          </a:p>
        </p:txBody>
      </p:sp>
      <p:sp>
        <p:nvSpPr>
          <p:cNvPr id="8" name="TextBox 7">
            <a:extLst>
              <a:ext uri="{FF2B5EF4-FFF2-40B4-BE49-F238E27FC236}">
                <a16:creationId xmlns:a16="http://schemas.microsoft.com/office/drawing/2014/main" id="{34461D8C-A727-F654-2823-AB08BFAA9AC3}"/>
              </a:ext>
            </a:extLst>
          </p:cNvPr>
          <p:cNvSpPr txBox="1"/>
          <p:nvPr/>
        </p:nvSpPr>
        <p:spPr>
          <a:xfrm>
            <a:off x="762000" y="1524000"/>
            <a:ext cx="7772400" cy="4939814"/>
          </a:xfrm>
          <a:prstGeom prst="rect">
            <a:avLst/>
          </a:prstGeom>
          <a:noFill/>
        </p:spPr>
        <p:txBody>
          <a:bodyPr wrap="square" rtlCol="0">
            <a:spAutoFit/>
          </a:bodyPr>
          <a:lstStyle/>
          <a:p>
            <a:pPr marL="342900" lvl="0" indent="-342900">
              <a:lnSpc>
                <a:spcPct val="150000"/>
              </a:lnSpc>
              <a:buFont typeface="+mj-lt"/>
              <a:buAutoNum type="arabicPeriod"/>
            </a:pPr>
            <a:r>
              <a:rPr lang="en-US" sz="2200" dirty="0"/>
              <a:t>Start the game and choose speed.</a:t>
            </a:r>
          </a:p>
          <a:p>
            <a:pPr marL="342900" lvl="0" indent="-342900">
              <a:lnSpc>
                <a:spcPct val="150000"/>
              </a:lnSpc>
              <a:buFont typeface="+mj-lt"/>
              <a:buAutoNum type="arabicPeriod"/>
            </a:pPr>
            <a:r>
              <a:rPr lang="en-US" sz="2200" dirty="0"/>
              <a:t>Create the snake and food.</a:t>
            </a:r>
          </a:p>
          <a:p>
            <a:pPr marL="342900" lvl="0" indent="-342900">
              <a:lnSpc>
                <a:spcPct val="150000"/>
              </a:lnSpc>
              <a:buFont typeface="+mj-lt"/>
              <a:buAutoNum type="arabicPeriod"/>
            </a:pPr>
            <a:r>
              <a:rPr lang="en-US" sz="2200" dirty="0"/>
              <a:t>Take keyboard input for movement.</a:t>
            </a:r>
          </a:p>
          <a:p>
            <a:pPr marL="342900" lvl="0" indent="-342900">
              <a:lnSpc>
                <a:spcPct val="150000"/>
              </a:lnSpc>
              <a:buFont typeface="+mj-lt"/>
              <a:buAutoNum type="arabicPeriod"/>
            </a:pPr>
            <a:r>
              <a:rPr lang="en-US" sz="2200" dirty="0"/>
              <a:t>Move the snake in the selected direction.</a:t>
            </a:r>
          </a:p>
          <a:p>
            <a:pPr marL="342900" lvl="0" indent="-342900">
              <a:lnSpc>
                <a:spcPct val="150000"/>
              </a:lnSpc>
              <a:buFont typeface="+mj-lt"/>
              <a:buAutoNum type="arabicPeriod"/>
            </a:pPr>
            <a:r>
              <a:rPr lang="en-US" sz="2200" dirty="0"/>
              <a:t>Check wall/body collision.</a:t>
            </a:r>
          </a:p>
          <a:p>
            <a:pPr marL="342900" lvl="0" indent="-342900">
              <a:lnSpc>
                <a:spcPct val="150000"/>
              </a:lnSpc>
              <a:buFont typeface="+mj-lt"/>
              <a:buAutoNum type="arabicPeriod"/>
            </a:pPr>
            <a:r>
              <a:rPr lang="en-US" sz="2200" dirty="0"/>
              <a:t>If food is eaten, increase score and snake length.</a:t>
            </a:r>
          </a:p>
          <a:p>
            <a:pPr marL="342900" lvl="0" indent="-342900">
              <a:lnSpc>
                <a:spcPct val="150000"/>
              </a:lnSpc>
              <a:buFont typeface="+mj-lt"/>
              <a:buAutoNum type="arabicPeriod"/>
            </a:pPr>
            <a:r>
              <a:rPr lang="en-US" sz="2200" dirty="0"/>
              <a:t>Generate new food.</a:t>
            </a:r>
          </a:p>
          <a:p>
            <a:pPr marL="342900" lvl="0" indent="-342900">
              <a:lnSpc>
                <a:spcPct val="150000"/>
              </a:lnSpc>
              <a:buFont typeface="+mj-lt"/>
              <a:buAutoNum type="arabicPeriod"/>
            </a:pPr>
            <a:r>
              <a:rPr lang="en-US" sz="2200" dirty="0"/>
              <a:t>Continue until collision occurs.</a:t>
            </a:r>
          </a:p>
          <a:p>
            <a:pPr marL="342900" lvl="0" indent="-342900">
              <a:lnSpc>
                <a:spcPct val="150000"/>
              </a:lnSpc>
              <a:buFont typeface="+mj-lt"/>
              <a:buAutoNum type="arabicPeriod"/>
            </a:pPr>
            <a:r>
              <a:rPr lang="en-US" sz="2200" dirty="0"/>
              <a:t>Display </a:t>
            </a:r>
            <a:r>
              <a:rPr lang="en-US" sz="2200" b="1" dirty="0"/>
              <a:t>Game Over</a:t>
            </a:r>
            <a:r>
              <a:rPr lang="en-US" sz="2200" dirty="0"/>
              <a:t> and allow restart or quit.</a:t>
            </a:r>
          </a:p>
          <a:p>
            <a:endParaRPr lang="en-US" dirty="0"/>
          </a:p>
        </p:txBody>
      </p:sp>
      <p:sp>
        <p:nvSpPr>
          <p:cNvPr id="10" name="TextBox 9">
            <a:extLst>
              <a:ext uri="{FF2B5EF4-FFF2-40B4-BE49-F238E27FC236}">
                <a16:creationId xmlns:a16="http://schemas.microsoft.com/office/drawing/2014/main" id="{B57BF7C5-C277-B8D8-0673-07884AE943BA}"/>
              </a:ext>
            </a:extLst>
          </p:cNvPr>
          <p:cNvSpPr txBox="1"/>
          <p:nvPr/>
        </p:nvSpPr>
        <p:spPr>
          <a:xfrm>
            <a:off x="6907976" y="306945"/>
            <a:ext cx="1905000" cy="1569660"/>
          </a:xfrm>
          <a:prstGeom prst="rect">
            <a:avLst/>
          </a:prstGeom>
          <a:noFill/>
        </p:spPr>
        <p:txBody>
          <a:bodyPr wrap="square">
            <a:spAutoFit/>
          </a:bodyPr>
          <a:lstStyle/>
          <a:p>
            <a:pPr>
              <a:buNone/>
            </a:pPr>
            <a:r>
              <a:rPr lang="en-US" sz="9600" b="1" dirty="0"/>
              <a:t>🐍</a:t>
            </a:r>
            <a:r>
              <a:rPr lang="en-US" b="1" dirty="0"/>
              <a:t> </a:t>
            </a:r>
          </a:p>
        </p:txBody>
      </p:sp>
      <p:pic>
        <p:nvPicPr>
          <p:cNvPr id="11" name="Picture 10">
            <a:extLst>
              <a:ext uri="{FF2B5EF4-FFF2-40B4-BE49-F238E27FC236}">
                <a16:creationId xmlns:a16="http://schemas.microsoft.com/office/drawing/2014/main" id="{940A4155-20AF-4B8B-5443-8B18BD160A5A}"/>
              </a:ext>
            </a:extLst>
          </p:cNvPr>
          <p:cNvPicPr>
            <a:picLocks noChangeAspect="1"/>
          </p:cNvPicPr>
          <p:nvPr/>
        </p:nvPicPr>
        <p:blipFill>
          <a:blip r:embed="rId2"/>
          <a:stretch>
            <a:fillRect/>
          </a:stretch>
        </p:blipFill>
        <p:spPr>
          <a:xfrm>
            <a:off x="6437466" y="1802379"/>
            <a:ext cx="2236222" cy="2236222"/>
          </a:xfrm>
          <a:prstGeom prst="rect">
            <a:avLst/>
          </a:prstGeom>
        </p:spPr>
      </p:pic>
      <p:pic>
        <p:nvPicPr>
          <p:cNvPr id="12" name="Picture 11">
            <a:extLst>
              <a:ext uri="{FF2B5EF4-FFF2-40B4-BE49-F238E27FC236}">
                <a16:creationId xmlns:a16="http://schemas.microsoft.com/office/drawing/2014/main" id="{11D7267E-DC43-4F1F-0CD2-72E4032E07B9}"/>
              </a:ext>
            </a:extLst>
          </p:cNvPr>
          <p:cNvPicPr>
            <a:picLocks noChangeAspect="1"/>
          </p:cNvPicPr>
          <p:nvPr/>
        </p:nvPicPr>
        <p:blipFill>
          <a:blip r:embed="rId3"/>
          <a:stretch>
            <a:fillRect/>
          </a:stretch>
        </p:blipFill>
        <p:spPr>
          <a:xfrm>
            <a:off x="6848045" y="4549170"/>
            <a:ext cx="2024861" cy="1569660"/>
          </a:xfrm>
          <a:prstGeom prst="rect">
            <a:avLst/>
          </a:prstGeom>
        </p:spPr>
      </p:pic>
      <p:pic>
        <p:nvPicPr>
          <p:cNvPr id="14" name="Picture 13">
            <a:extLst>
              <a:ext uri="{FF2B5EF4-FFF2-40B4-BE49-F238E27FC236}">
                <a16:creationId xmlns:a16="http://schemas.microsoft.com/office/drawing/2014/main" id="{0DCFFCC6-89F9-FBE0-AFBB-3BC0DE970FBC}"/>
              </a:ext>
            </a:extLst>
          </p:cNvPr>
          <p:cNvPicPr>
            <a:picLocks noChangeAspect="1"/>
          </p:cNvPicPr>
          <p:nvPr/>
        </p:nvPicPr>
        <p:blipFill>
          <a:blip r:embed="rId4"/>
          <a:stretch>
            <a:fillRect/>
          </a:stretch>
        </p:blipFill>
        <p:spPr>
          <a:xfrm>
            <a:off x="4135087" y="216702"/>
            <a:ext cx="2810267" cy="1409897"/>
          </a:xfrm>
          <a:prstGeom prst="rect">
            <a:avLst/>
          </a:prstGeom>
        </p:spPr>
      </p:pic>
    </p:spTree>
    <p:extLst>
      <p:ext uri="{BB962C8B-B14F-4D97-AF65-F5344CB8AC3E}">
        <p14:creationId xmlns:p14="http://schemas.microsoft.com/office/powerpoint/2010/main" val="3726080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66B822-7D4A-8BB2-AC54-032A7E46DB05}"/>
              </a:ext>
            </a:extLst>
          </p:cNvPr>
          <p:cNvSpPr txBox="1"/>
          <p:nvPr/>
        </p:nvSpPr>
        <p:spPr>
          <a:xfrm>
            <a:off x="381000" y="381000"/>
            <a:ext cx="4191000" cy="769441"/>
          </a:xfrm>
          <a:prstGeom prst="rect">
            <a:avLst/>
          </a:prstGeom>
          <a:noFill/>
        </p:spPr>
        <p:txBody>
          <a:bodyPr wrap="square" rtlCol="0">
            <a:spAutoFit/>
          </a:bodyPr>
          <a:lstStyle/>
          <a:p>
            <a:r>
              <a:rPr lang="en-US" sz="4400" dirty="0"/>
              <a:t>Flow Chart: </a:t>
            </a:r>
          </a:p>
        </p:txBody>
      </p:sp>
      <p:sp>
        <p:nvSpPr>
          <p:cNvPr id="7" name="TextBox 6">
            <a:extLst>
              <a:ext uri="{FF2B5EF4-FFF2-40B4-BE49-F238E27FC236}">
                <a16:creationId xmlns:a16="http://schemas.microsoft.com/office/drawing/2014/main" id="{8620B5B9-1493-EAFD-57FA-84F4DC4CB0B2}"/>
              </a:ext>
            </a:extLst>
          </p:cNvPr>
          <p:cNvSpPr txBox="1"/>
          <p:nvPr/>
        </p:nvSpPr>
        <p:spPr>
          <a:xfrm>
            <a:off x="838200" y="1295400"/>
            <a:ext cx="4191000" cy="5093702"/>
          </a:xfrm>
          <a:prstGeom prst="rect">
            <a:avLst/>
          </a:prstGeom>
          <a:noFill/>
        </p:spPr>
        <p:txBody>
          <a:bodyPr wrap="square">
            <a:spAutoFit/>
          </a:bodyPr>
          <a:lstStyle/>
          <a:p>
            <a:r>
              <a:rPr lang="en-US" sz="1300" dirty="0"/>
              <a:t> START</a:t>
            </a:r>
          </a:p>
          <a:p>
            <a:r>
              <a:rPr lang="en-US" sz="1300" dirty="0"/>
              <a:t>          ↓</a:t>
            </a:r>
          </a:p>
          <a:p>
            <a:r>
              <a:rPr lang="en-US" sz="1300" dirty="0"/>
              <a:t>    Choose Speed</a:t>
            </a:r>
          </a:p>
          <a:p>
            <a:r>
              <a:rPr lang="en-US" sz="1300" dirty="0"/>
              <a:t>          ↓</a:t>
            </a:r>
          </a:p>
          <a:p>
            <a:r>
              <a:rPr lang="en-US" sz="1300" dirty="0"/>
              <a:t>   Create Snake &amp; Food</a:t>
            </a:r>
          </a:p>
          <a:p>
            <a:r>
              <a:rPr lang="en-US" sz="1300" dirty="0"/>
              <a:t>          ↓</a:t>
            </a:r>
          </a:p>
          <a:p>
            <a:r>
              <a:rPr lang="en-US" sz="1300" dirty="0"/>
              <a:t>    Take Keyboard Input</a:t>
            </a:r>
          </a:p>
          <a:p>
            <a:r>
              <a:rPr lang="en-US" sz="1300" dirty="0"/>
              <a:t>          ↓</a:t>
            </a:r>
          </a:p>
          <a:p>
            <a:r>
              <a:rPr lang="en-US" sz="1300" dirty="0"/>
              <a:t>      Move Snake</a:t>
            </a:r>
          </a:p>
          <a:p>
            <a:r>
              <a:rPr lang="en-US" sz="1300" dirty="0"/>
              <a:t>          ↓</a:t>
            </a:r>
          </a:p>
          <a:p>
            <a:r>
              <a:rPr lang="en-US" sz="1300" dirty="0"/>
              <a:t>   Hit Wall or Body?</a:t>
            </a:r>
          </a:p>
          <a:p>
            <a:r>
              <a:rPr lang="en-US" sz="1300" dirty="0"/>
              <a:t>      ↙          ↘</a:t>
            </a:r>
          </a:p>
          <a:p>
            <a:r>
              <a:rPr lang="en-US" sz="1300" dirty="0"/>
              <a:t>    YES           NO</a:t>
            </a:r>
          </a:p>
          <a:p>
            <a:r>
              <a:rPr lang="en-US" sz="1300" dirty="0"/>
              <a:t>     ↓             ↓</a:t>
            </a:r>
          </a:p>
          <a:p>
            <a:r>
              <a:rPr lang="en-US" sz="1300" dirty="0"/>
              <a:t> GAME OVER     Eat Food?</a:t>
            </a:r>
          </a:p>
          <a:p>
            <a:r>
              <a:rPr lang="en-US" sz="1300" dirty="0"/>
              <a:t>                ↙     ↘</a:t>
            </a:r>
          </a:p>
          <a:p>
            <a:r>
              <a:rPr lang="en-US" sz="1300" dirty="0"/>
              <a:t>              YES      NO</a:t>
            </a:r>
          </a:p>
          <a:p>
            <a:r>
              <a:rPr lang="en-US" sz="1300" dirty="0"/>
              <a:t>               ↓        ↓</a:t>
            </a:r>
          </a:p>
          <a:p>
            <a:r>
              <a:rPr lang="en-US" sz="1300" dirty="0"/>
              <a:t>        Score +1 &amp;     Remove</a:t>
            </a:r>
          </a:p>
          <a:p>
            <a:r>
              <a:rPr lang="en-US" sz="1300" dirty="0"/>
              <a:t>        Grow Snake      Tail</a:t>
            </a:r>
          </a:p>
          <a:p>
            <a:r>
              <a:rPr lang="en-US" sz="1300" dirty="0"/>
              <a:t>               ↘        ↙</a:t>
            </a:r>
          </a:p>
          <a:p>
            <a:r>
              <a:rPr lang="en-US" sz="1300" dirty="0"/>
              <a:t>                ↓</a:t>
            </a:r>
          </a:p>
          <a:p>
            <a:r>
              <a:rPr lang="en-US" sz="1300" dirty="0"/>
              <a:t>            Draw Game</a:t>
            </a:r>
          </a:p>
          <a:p>
            <a:r>
              <a:rPr lang="en-US" sz="1300" dirty="0"/>
              <a:t>                ↓</a:t>
            </a:r>
          </a:p>
          <a:p>
            <a:r>
              <a:rPr lang="en-US" sz="1300" dirty="0"/>
              <a:t>          Continue Game</a:t>
            </a:r>
          </a:p>
        </p:txBody>
      </p:sp>
      <p:pic>
        <p:nvPicPr>
          <p:cNvPr id="8" name="Picture 7">
            <a:extLst>
              <a:ext uri="{FF2B5EF4-FFF2-40B4-BE49-F238E27FC236}">
                <a16:creationId xmlns:a16="http://schemas.microsoft.com/office/drawing/2014/main" id="{B11B7B59-149A-54FF-117A-692B309C2CE4}"/>
              </a:ext>
            </a:extLst>
          </p:cNvPr>
          <p:cNvPicPr>
            <a:picLocks noChangeAspect="1"/>
          </p:cNvPicPr>
          <p:nvPr/>
        </p:nvPicPr>
        <p:blipFill>
          <a:blip r:embed="rId2"/>
          <a:stretch>
            <a:fillRect/>
          </a:stretch>
        </p:blipFill>
        <p:spPr>
          <a:xfrm>
            <a:off x="3352800" y="-15330"/>
            <a:ext cx="1562100" cy="1562100"/>
          </a:xfrm>
          <a:prstGeom prst="rect">
            <a:avLst/>
          </a:prstGeom>
        </p:spPr>
      </p:pic>
      <p:pic>
        <p:nvPicPr>
          <p:cNvPr id="9" name="Picture 8">
            <a:extLst>
              <a:ext uri="{FF2B5EF4-FFF2-40B4-BE49-F238E27FC236}">
                <a16:creationId xmlns:a16="http://schemas.microsoft.com/office/drawing/2014/main" id="{CFA8243C-5C74-79C1-83FA-B6827A1B8415}"/>
              </a:ext>
            </a:extLst>
          </p:cNvPr>
          <p:cNvPicPr>
            <a:picLocks noChangeAspect="1"/>
          </p:cNvPicPr>
          <p:nvPr/>
        </p:nvPicPr>
        <p:blipFill>
          <a:blip r:embed="rId3"/>
          <a:stretch>
            <a:fillRect/>
          </a:stretch>
        </p:blipFill>
        <p:spPr>
          <a:xfrm>
            <a:off x="7467600" y="5093702"/>
            <a:ext cx="1295400" cy="1295400"/>
          </a:xfrm>
          <a:prstGeom prst="rect">
            <a:avLst/>
          </a:prstGeom>
        </p:spPr>
      </p:pic>
      <p:pic>
        <p:nvPicPr>
          <p:cNvPr id="10" name="Picture 9">
            <a:extLst>
              <a:ext uri="{FF2B5EF4-FFF2-40B4-BE49-F238E27FC236}">
                <a16:creationId xmlns:a16="http://schemas.microsoft.com/office/drawing/2014/main" id="{2065EE06-E58C-E4D7-4F01-E8531D5ED0DF}"/>
              </a:ext>
            </a:extLst>
          </p:cNvPr>
          <p:cNvPicPr>
            <a:picLocks noChangeAspect="1"/>
          </p:cNvPicPr>
          <p:nvPr/>
        </p:nvPicPr>
        <p:blipFill>
          <a:blip r:embed="rId4"/>
          <a:stretch>
            <a:fillRect/>
          </a:stretch>
        </p:blipFill>
        <p:spPr>
          <a:xfrm rot="1812522">
            <a:off x="4352835" y="1351059"/>
            <a:ext cx="4840132" cy="3161211"/>
          </a:xfrm>
          <a:prstGeom prst="rect">
            <a:avLst/>
          </a:prstGeom>
        </p:spPr>
      </p:pic>
    </p:spTree>
    <p:extLst>
      <p:ext uri="{BB962C8B-B14F-4D97-AF65-F5344CB8AC3E}">
        <p14:creationId xmlns:p14="http://schemas.microsoft.com/office/powerpoint/2010/main" val="1242679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F0BB9F-056F-7759-7AEE-E87F76C65564}"/>
              </a:ext>
            </a:extLst>
          </p:cNvPr>
          <p:cNvSpPr txBox="1"/>
          <p:nvPr/>
        </p:nvSpPr>
        <p:spPr>
          <a:xfrm>
            <a:off x="381000" y="381000"/>
            <a:ext cx="5562600" cy="769441"/>
          </a:xfrm>
          <a:prstGeom prst="rect">
            <a:avLst/>
          </a:prstGeom>
          <a:noFill/>
        </p:spPr>
        <p:txBody>
          <a:bodyPr wrap="square" rtlCol="0">
            <a:spAutoFit/>
          </a:bodyPr>
          <a:lstStyle/>
          <a:p>
            <a:r>
              <a:rPr lang="en-US" sz="4400" dirty="0"/>
              <a:t>Logic:-</a:t>
            </a:r>
          </a:p>
        </p:txBody>
      </p:sp>
      <p:sp>
        <p:nvSpPr>
          <p:cNvPr id="5" name="TextBox 4">
            <a:extLst>
              <a:ext uri="{FF2B5EF4-FFF2-40B4-BE49-F238E27FC236}">
                <a16:creationId xmlns:a16="http://schemas.microsoft.com/office/drawing/2014/main" id="{5DC70AFE-9316-E1EB-2FE3-9C6E6F4255BC}"/>
              </a:ext>
            </a:extLst>
          </p:cNvPr>
          <p:cNvSpPr txBox="1"/>
          <p:nvPr/>
        </p:nvSpPr>
        <p:spPr>
          <a:xfrm>
            <a:off x="391296" y="990600"/>
            <a:ext cx="5552303" cy="5909310"/>
          </a:xfrm>
          <a:prstGeom prst="rect">
            <a:avLst/>
          </a:prstGeom>
          <a:noFill/>
        </p:spPr>
        <p:txBody>
          <a:bodyPr wrap="square" rtlCol="0">
            <a:spAutoFit/>
          </a:bodyPr>
          <a:lstStyle/>
          <a:p>
            <a:pPr lvl="0">
              <a:lnSpc>
                <a:spcPct val="150000"/>
              </a:lnSpc>
            </a:pPr>
            <a:r>
              <a:rPr lang="en-US" sz="2000" b="1" dirty="0"/>
              <a:t>Start</a:t>
            </a:r>
            <a:r>
              <a:rPr lang="en-US" sz="2000" dirty="0"/>
              <a:t> → Create snake and food. </a:t>
            </a:r>
          </a:p>
          <a:p>
            <a:pPr lvl="0">
              <a:lnSpc>
                <a:spcPct val="150000"/>
              </a:lnSpc>
            </a:pPr>
            <a:r>
              <a:rPr lang="en-US" sz="2000" b="1" dirty="0"/>
              <a:t>Input</a:t>
            </a:r>
            <a:r>
              <a:rPr lang="en-US" sz="2000" dirty="0"/>
              <a:t> → Player chooses the snake's direction. </a:t>
            </a:r>
          </a:p>
          <a:p>
            <a:pPr lvl="0">
              <a:lnSpc>
                <a:spcPct val="150000"/>
              </a:lnSpc>
            </a:pPr>
            <a:r>
              <a:rPr lang="en-US" sz="2000" b="1" dirty="0"/>
              <a:t>Move</a:t>
            </a:r>
            <a:r>
              <a:rPr lang="en-US" sz="2000" dirty="0"/>
              <a:t> → Snake's head moves one grid cell. </a:t>
            </a:r>
          </a:p>
          <a:p>
            <a:pPr lvl="0">
              <a:lnSpc>
                <a:spcPct val="150000"/>
              </a:lnSpc>
            </a:pPr>
            <a:r>
              <a:rPr lang="en-US" sz="2000" b="1" dirty="0"/>
              <a:t>Collision Check</a:t>
            </a:r>
            <a:r>
              <a:rPr lang="en-US" sz="2000" dirty="0"/>
              <a:t> → Check wall or snake body. </a:t>
            </a:r>
          </a:p>
          <a:p>
            <a:pPr lvl="0">
              <a:lnSpc>
                <a:spcPct val="150000"/>
              </a:lnSpc>
            </a:pPr>
            <a:r>
              <a:rPr lang="en-US" sz="2000" b="1" dirty="0"/>
              <a:t>Food Check</a:t>
            </a:r>
            <a:r>
              <a:rPr lang="en-US" sz="2000" dirty="0"/>
              <a:t> → If snake eats food, score increases and snake grows. </a:t>
            </a:r>
          </a:p>
          <a:p>
            <a:pPr lvl="0">
              <a:lnSpc>
                <a:spcPct val="150000"/>
              </a:lnSpc>
            </a:pPr>
            <a:r>
              <a:rPr lang="en-US" sz="2000" b="1" dirty="0"/>
              <a:t>New Food</a:t>
            </a:r>
            <a:r>
              <a:rPr lang="en-US" sz="2000" dirty="0"/>
              <a:t> → Food appears at a random empty position. </a:t>
            </a:r>
          </a:p>
          <a:p>
            <a:pPr lvl="0">
              <a:lnSpc>
                <a:spcPct val="150000"/>
              </a:lnSpc>
            </a:pPr>
            <a:r>
              <a:rPr lang="en-US" sz="2000" b="1" dirty="0"/>
              <a:t>Repeat</a:t>
            </a:r>
            <a:r>
              <a:rPr lang="en-US" sz="2000" dirty="0"/>
              <a:t> → Continue moving until a collision occurs. </a:t>
            </a:r>
          </a:p>
          <a:p>
            <a:pPr lvl="0">
              <a:lnSpc>
                <a:spcPct val="150000"/>
              </a:lnSpc>
            </a:pPr>
            <a:r>
              <a:rPr lang="en-US" sz="2000" b="1" dirty="0"/>
              <a:t>Game Over</a:t>
            </a:r>
            <a:r>
              <a:rPr lang="en-US" sz="2000" dirty="0"/>
              <a:t> → Display final score and allow restart. </a:t>
            </a:r>
          </a:p>
          <a:p>
            <a:endParaRPr lang="en-US" dirty="0"/>
          </a:p>
        </p:txBody>
      </p:sp>
      <p:sp>
        <p:nvSpPr>
          <p:cNvPr id="6" name="Rectangle 5">
            <a:extLst>
              <a:ext uri="{FF2B5EF4-FFF2-40B4-BE49-F238E27FC236}">
                <a16:creationId xmlns:a16="http://schemas.microsoft.com/office/drawing/2014/main" id="{0D071C9D-4AD0-C1D1-DFDA-F3274E2D8D04}"/>
              </a:ext>
            </a:extLst>
          </p:cNvPr>
          <p:cNvSpPr/>
          <p:nvPr/>
        </p:nvSpPr>
        <p:spPr>
          <a:xfrm>
            <a:off x="6172200" y="838200"/>
            <a:ext cx="2580504" cy="5105400"/>
          </a:xfrm>
          <a:prstGeom prst="rect">
            <a:avLst/>
          </a:prstGeom>
          <a:solidFill>
            <a:schemeClr val="tx1">
              <a:lumMod val="95000"/>
              <a:lumOff val="5000"/>
            </a:schemeClr>
          </a:solidFill>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KEYBOARD INPUT</a:t>
            </a:r>
          </a:p>
          <a:p>
            <a:pPr algn="ctr"/>
            <a:r>
              <a:rPr lang="en-US" sz="1400" dirty="0"/>
              <a:t>      ↓</a:t>
            </a:r>
          </a:p>
          <a:p>
            <a:pPr algn="ctr"/>
            <a:r>
              <a:rPr lang="en-US" sz="1400" dirty="0"/>
              <a:t>CALCULATE NEW HEAD</a:t>
            </a:r>
          </a:p>
          <a:p>
            <a:pPr algn="ctr"/>
            <a:r>
              <a:rPr lang="en-US" sz="1400" dirty="0"/>
              <a:t>      ↓</a:t>
            </a:r>
          </a:p>
          <a:p>
            <a:pPr algn="ctr"/>
            <a:r>
              <a:rPr lang="en-US" sz="1400" dirty="0"/>
              <a:t>CHECK COLLISION</a:t>
            </a:r>
          </a:p>
          <a:p>
            <a:pPr algn="ctr"/>
            <a:r>
              <a:rPr lang="en-US" sz="1400" dirty="0"/>
              <a:t>   ↓          ↓</a:t>
            </a:r>
          </a:p>
          <a:p>
            <a:pPr algn="ctr"/>
            <a:r>
              <a:rPr lang="en-US" sz="1400" dirty="0"/>
              <a:t>HIT         SAFE</a:t>
            </a:r>
          </a:p>
          <a:p>
            <a:pPr algn="ctr"/>
            <a:r>
              <a:rPr lang="en-US" sz="1400" dirty="0"/>
              <a:t> ↓            ↓</a:t>
            </a:r>
          </a:p>
          <a:p>
            <a:pPr algn="ctr"/>
            <a:r>
              <a:rPr lang="en-US" sz="1400" dirty="0"/>
              <a:t>GAME OVER   ADD HEAD</a:t>
            </a:r>
          </a:p>
          <a:p>
            <a:pPr algn="ctr"/>
            <a:r>
              <a:rPr lang="en-US" sz="1400" dirty="0"/>
              <a:t>              ↓</a:t>
            </a:r>
          </a:p>
          <a:p>
            <a:pPr algn="ctr"/>
            <a:r>
              <a:rPr lang="en-US" sz="1400" dirty="0"/>
              <a:t>          FOOD EATEN?</a:t>
            </a:r>
          </a:p>
          <a:p>
            <a:pPr algn="ctr"/>
            <a:r>
              <a:rPr lang="en-US" sz="1400" dirty="0"/>
              <a:t>          ↓       ↓</a:t>
            </a:r>
          </a:p>
          <a:p>
            <a:pPr algn="ctr"/>
            <a:r>
              <a:rPr lang="en-US" sz="1400" dirty="0"/>
              <a:t>        YES       NO</a:t>
            </a:r>
          </a:p>
          <a:p>
            <a:pPr algn="ctr"/>
            <a:r>
              <a:rPr lang="en-US" sz="1400" dirty="0"/>
              <a:t>         ↓         ↓</a:t>
            </a:r>
          </a:p>
          <a:p>
            <a:pPr algn="ctr"/>
            <a:r>
              <a:rPr lang="en-US" sz="1400" dirty="0"/>
              <a:t>     GROW SNAKE  REMOVE TAIL</a:t>
            </a:r>
          </a:p>
          <a:p>
            <a:pPr algn="ctr"/>
            <a:r>
              <a:rPr lang="en-US" sz="1400" dirty="0"/>
              <a:t>         ↓         ↓</a:t>
            </a:r>
          </a:p>
          <a:p>
            <a:pPr algn="ctr"/>
            <a:r>
              <a:rPr lang="en-US" sz="1400" dirty="0"/>
              <a:t>         └────┬────┘</a:t>
            </a:r>
          </a:p>
          <a:p>
            <a:pPr algn="ctr"/>
            <a:r>
              <a:rPr lang="en-US" sz="1400" dirty="0"/>
              <a:t>              ↓</a:t>
            </a:r>
          </a:p>
          <a:p>
            <a:pPr algn="ctr"/>
            <a:r>
              <a:rPr lang="en-US" sz="1400" dirty="0"/>
              <a:t>          DRAW SCREEN</a:t>
            </a:r>
          </a:p>
          <a:p>
            <a:pPr algn="ctr"/>
            <a:r>
              <a:rPr lang="en-US" sz="1400" dirty="0"/>
              <a:t>              ↓</a:t>
            </a:r>
          </a:p>
          <a:p>
            <a:pPr algn="ctr"/>
            <a:r>
              <a:rPr lang="en-US" sz="1400" dirty="0"/>
              <a:t>           REPEAT</a:t>
            </a:r>
          </a:p>
        </p:txBody>
      </p:sp>
    </p:spTree>
    <p:extLst>
      <p:ext uri="{BB962C8B-B14F-4D97-AF65-F5344CB8AC3E}">
        <p14:creationId xmlns:p14="http://schemas.microsoft.com/office/powerpoint/2010/main" val="1031389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5E5C2-977D-31E2-5B79-8A440FF200EF}"/>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868EC9F7-B9B4-05B7-569A-599384B34A05}"/>
              </a:ext>
            </a:extLst>
          </p:cNvPr>
          <p:cNvSpPr txBox="1">
            <a:spLocks noGrp="1"/>
          </p:cNvSpPr>
          <p:nvPr>
            <p:ph type="title"/>
          </p:nvPr>
        </p:nvSpPr>
        <p:spPr>
          <a:xfrm>
            <a:off x="3048426" y="2896496"/>
            <a:ext cx="3138804" cy="751488"/>
          </a:xfrm>
          <a:prstGeom prst="rect">
            <a:avLst/>
          </a:prstGeom>
        </p:spPr>
        <p:txBody>
          <a:bodyPr vert="horz" wrap="square" lIns="0" tIns="12700" rIns="0" bIns="0" rtlCol="0">
            <a:spAutoFit/>
          </a:bodyPr>
          <a:lstStyle/>
          <a:p>
            <a:pPr marL="12700">
              <a:lnSpc>
                <a:spcPct val="100000"/>
              </a:lnSpc>
              <a:spcBef>
                <a:spcPts val="100"/>
              </a:spcBef>
            </a:pPr>
            <a:r>
              <a:rPr dirty="0"/>
              <a:t>Thank</a:t>
            </a:r>
            <a:r>
              <a:rPr spc="-170" dirty="0"/>
              <a:t> </a:t>
            </a:r>
            <a:r>
              <a:rPr spc="-25" dirty="0"/>
              <a:t>You</a:t>
            </a:r>
          </a:p>
        </p:txBody>
      </p:sp>
      <p:sp>
        <p:nvSpPr>
          <p:cNvPr id="3" name="object 3">
            <a:extLst>
              <a:ext uri="{FF2B5EF4-FFF2-40B4-BE49-F238E27FC236}">
                <a16:creationId xmlns:a16="http://schemas.microsoft.com/office/drawing/2014/main" id="{7D46E1C9-1607-A36A-CB96-2B8A9A38E908}"/>
              </a:ext>
            </a:extLst>
          </p:cNvPr>
          <p:cNvSpPr txBox="1"/>
          <p:nvPr/>
        </p:nvSpPr>
        <p:spPr>
          <a:xfrm>
            <a:off x="483424" y="6355916"/>
            <a:ext cx="57823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B8B8B"/>
                </a:solidFill>
                <a:latin typeface="Cambria"/>
                <a:cs typeface="Cambria"/>
              </a:rPr>
              <a:t>S.</a:t>
            </a:r>
            <a:r>
              <a:rPr sz="1800" spc="-30" dirty="0">
                <a:solidFill>
                  <a:srgbClr val="8B8B8B"/>
                </a:solidFill>
                <a:latin typeface="Cambria"/>
                <a:cs typeface="Cambria"/>
              </a:rPr>
              <a:t> </a:t>
            </a:r>
            <a:r>
              <a:rPr sz="1800" dirty="0">
                <a:solidFill>
                  <a:srgbClr val="8B8B8B"/>
                </a:solidFill>
                <a:latin typeface="Cambria"/>
                <a:cs typeface="Cambria"/>
              </a:rPr>
              <a:t>B.</a:t>
            </a:r>
            <a:r>
              <a:rPr sz="1800" spc="-25" dirty="0">
                <a:solidFill>
                  <a:srgbClr val="8B8B8B"/>
                </a:solidFill>
                <a:latin typeface="Cambria"/>
                <a:cs typeface="Cambria"/>
              </a:rPr>
              <a:t> </a:t>
            </a:r>
            <a:r>
              <a:rPr sz="1800" dirty="0">
                <a:solidFill>
                  <a:srgbClr val="8B8B8B"/>
                </a:solidFill>
                <a:latin typeface="Cambria"/>
                <a:cs typeface="Cambria"/>
              </a:rPr>
              <a:t>Jain</a:t>
            </a:r>
            <a:r>
              <a:rPr sz="1800" spc="-25" dirty="0">
                <a:solidFill>
                  <a:srgbClr val="8B8B8B"/>
                </a:solidFill>
                <a:latin typeface="Cambria"/>
                <a:cs typeface="Cambria"/>
              </a:rPr>
              <a:t> </a:t>
            </a:r>
            <a:r>
              <a:rPr sz="1800" spc="-10" dirty="0">
                <a:solidFill>
                  <a:srgbClr val="8B8B8B"/>
                </a:solidFill>
                <a:latin typeface="Cambria"/>
                <a:cs typeface="Cambria"/>
              </a:rPr>
              <a:t>Institute</a:t>
            </a:r>
            <a:r>
              <a:rPr sz="1800" spc="-30" dirty="0">
                <a:solidFill>
                  <a:srgbClr val="8B8B8B"/>
                </a:solidFill>
                <a:latin typeface="Cambria"/>
                <a:cs typeface="Cambria"/>
              </a:rPr>
              <a:t> </a:t>
            </a:r>
            <a:r>
              <a:rPr sz="1800" dirty="0">
                <a:solidFill>
                  <a:srgbClr val="8B8B8B"/>
                </a:solidFill>
                <a:latin typeface="Cambria"/>
                <a:cs typeface="Cambria"/>
              </a:rPr>
              <a:t>of</a:t>
            </a:r>
            <a:r>
              <a:rPr sz="1800" spc="-25" dirty="0">
                <a:solidFill>
                  <a:srgbClr val="8B8B8B"/>
                </a:solidFill>
                <a:latin typeface="Cambria"/>
                <a:cs typeface="Cambria"/>
              </a:rPr>
              <a:t> </a:t>
            </a:r>
            <a:r>
              <a:rPr sz="1800" dirty="0">
                <a:solidFill>
                  <a:srgbClr val="8B8B8B"/>
                </a:solidFill>
                <a:latin typeface="Cambria"/>
                <a:cs typeface="Cambria"/>
              </a:rPr>
              <a:t>Technology</a:t>
            </a:r>
            <a:r>
              <a:rPr sz="1800" spc="-25" dirty="0">
                <a:solidFill>
                  <a:srgbClr val="8B8B8B"/>
                </a:solidFill>
                <a:latin typeface="Cambria"/>
                <a:cs typeface="Cambria"/>
              </a:rPr>
              <a:t> </a:t>
            </a:r>
            <a:r>
              <a:rPr sz="1800" dirty="0">
                <a:solidFill>
                  <a:srgbClr val="8B8B8B"/>
                </a:solidFill>
                <a:latin typeface="Cambria"/>
                <a:cs typeface="Cambria"/>
              </a:rPr>
              <a:t>Management</a:t>
            </a:r>
            <a:r>
              <a:rPr sz="1800" spc="-30" dirty="0">
                <a:solidFill>
                  <a:srgbClr val="8B8B8B"/>
                </a:solidFill>
                <a:latin typeface="Cambria"/>
                <a:cs typeface="Cambria"/>
              </a:rPr>
              <a:t> </a:t>
            </a:r>
            <a:r>
              <a:rPr sz="1800" dirty="0">
                <a:solidFill>
                  <a:srgbClr val="8B8B8B"/>
                </a:solidFill>
                <a:latin typeface="Cambria"/>
                <a:cs typeface="Cambria"/>
              </a:rPr>
              <a:t>and</a:t>
            </a:r>
            <a:r>
              <a:rPr sz="1800" spc="-25" dirty="0">
                <a:solidFill>
                  <a:srgbClr val="8B8B8B"/>
                </a:solidFill>
                <a:latin typeface="Cambria"/>
                <a:cs typeface="Cambria"/>
              </a:rPr>
              <a:t> </a:t>
            </a:r>
            <a:r>
              <a:rPr sz="1800" spc="-10" dirty="0">
                <a:solidFill>
                  <a:srgbClr val="8B8B8B"/>
                </a:solidFill>
                <a:latin typeface="Cambria"/>
                <a:cs typeface="Cambria"/>
              </a:rPr>
              <a:t>research</a:t>
            </a:r>
            <a:endParaRPr sz="1800" dirty="0">
              <a:latin typeface="Cambria"/>
              <a:cs typeface="Cambria"/>
            </a:endParaRPr>
          </a:p>
        </p:txBody>
      </p:sp>
    </p:spTree>
    <p:extLst>
      <p:ext uri="{BB962C8B-B14F-4D97-AF65-F5344CB8AC3E}">
        <p14:creationId xmlns:p14="http://schemas.microsoft.com/office/powerpoint/2010/main" val="3672303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252</TotalTime>
  <Words>531</Words>
  <Application>Microsoft Office PowerPoint</Application>
  <PresentationFormat>On-screen Show (4:3)</PresentationFormat>
  <Paragraphs>94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Times New Roman</vt:lpstr>
      <vt:lpstr>Office Theme</vt:lpstr>
      <vt:lpstr>Experiential Learning Project Assessment-I on “ Python Snake Game”</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Bhavna Sarile</cp:lastModifiedBy>
  <cp:revision>1</cp:revision>
  <dcterms:created xsi:type="dcterms:W3CDTF">2026-08-16T11:29:58Z</dcterms:created>
  <dcterms:modified xsi:type="dcterms:W3CDTF">2026-08-16T15:43:02Z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2026-08-16T00:00:00Z</vt:filetime>
  </property>
  <property fmtid="{D5CDD505-2E9C-101B-9397-08002B2CF9AE}" pid="4" name="Creator">
    <vt:lpwstr>Google</vt:lpwstr>
  </property>
  <property fmtid="{D5CDD505-2E9C-101B-9397-08002B2CF9AE}" pid="5" name="LastSaved">
    <vt:filetime>2026-08-16T00:00:00Z</vt:filetime>
  </property>
</Properties>
</file>